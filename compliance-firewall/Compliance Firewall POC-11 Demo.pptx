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 to 0:20 (20 seconds). Introduce yourself and the POC in one sentence: a firewall that sits between the client's AI assistant and the customer, and checks every answer against trusted rules before it is shown. Say the plan: the problem, a live demo of every test case, a live price edit, the architecture, results on 50 labelled answers, then limitations. Before you start: backend running on port 8000 with DEBUG=true (needed for the crash and timeout cases), frontend on port 5173, rules at v1, the Live firewall page open.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 to 1:10 (50 seconds). The client's AI assistant sometimes invents prices, discounts, refund terms or links. Walk the four examples: a wrong Pro price, a discount that does not exist, a refund promise the policy does not make, and a link to a site the company does not own. Each one is a legal risk the moment a customer reads it. So the requirement is strict: no unchecked answer may reach a customer.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 to 1:50 (40 seconds). The firewall sits between the AI and the customer. It intercepts every draft answer, pulls out the facts (prices, percentages, dates, links and promises) and checks each one against the trusted rules that compliance staff maintain. If everything matches, the customer sees the answer. If anything is wrong, or the check itself fails, the customer sees a pre-approved safe message instead. There are four safe messages: pricing, policy, link and general. Every decision goes into the audit log with the rule version that was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1:50 to 2:10 (20 seconds). Switch to the app, Live firewall page. Point at the split screen: the customer chat on the left, the compliance view on the right. The compliance view shows the raw AI answer, each fact with a pass or fail mark against its rule, the reason, and the pipeline trace. Say that you will now run every row from the requirements sheet: 3 success cases, 4 edge cases and 5 bad or abuse cases. Use the one-click test case buttons to save typing.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2:10 to 3:10 (60 seconds). Run in the app, one by one. 1) Ask for the Pro price: the answer says $49, the compliance view shows the price fact passing against the rule USD 49, decision Approved. 2) Send a greeting: "Hi! How can I help?" has no facts, so it is approved at once; show in the trace that no AI call was made. 3) Ask about refunds: the 14-day answer passes the code check and the AI finds and quotes the refund policy, decision Approved. Point out that in all three the customer view shows the original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3:10 to 4:25 (75 seconds). 1) Basic plan price written as "4999 PKR" while the rule says "Rs 4,999": the firewall normalises the format and approves. 2) An answer with three prices where one is wrong: Rejected, and in the compliance view only the wrong price has a fail mark; the other two pass. 3) An allowed link with a trailing slash or different capitalisation: treated as allowed. 4) The fourth edge case, re-checking an old answer after a rule edit, is the live edit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4:25 to 5:25 (60 seconds). Suggested script: open Trusted rules, point at the version number shown, change the Pro price from USD 49 to USD 59 and save. The version goes up by one. Open the Audit log, find the earlier answer that was judged on v1 (for example the correct "$49" answer from the success cases), and click Re-check. The decision flips, and the log shows the new rule version beside it. Afterwards, restore v1 from the Trusted rules page so the next cases run on the original prices. Restoring creates a new version that copies v1; it does not rewrite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5:25 to 6:55 (90 seconds). 1) The $59 answer: the customer sees the safe pricing message; compliance sees the raw answer and "price mismatch: official price is USD 49". 2) A link that is not on the allowed list: Rejected as an unapproved link, and the customer gets the link safe message. 3) "Guaranteed refund anytime": Rejected twice over, as a banned phrase and as a contradiction of the 14-day policy. 4) Crash and timeout: use the simulated crash and timeout cases (they need DEBUG=true). The firewall fails closed: the customer gets the general safe message and the audit decision is Error. 5) Open the Test suite page and start the run of all 50 labelled answers; it finishes while you walk the architecture. Then open the Audit log and show the colour-coded filter for Approved, Rejected and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6:55 to 8:10 (75 seconds). Walk the eight steps left to right. The AI draft is intercepted and the rules come from an in-memory cache. Facts are extracted with pattern rules first; AI extraction runs only when cues are left that the patterns missed, such as "forty-nine bucks", and every AI fact must quote text that really appears in the answer. Code checks cover prices, percentages, periods, dates, links and banned phrases: fast, free and deterministic. The AI promise check passes a promise only if the model says it is supported and quotes the policy word for word; an invented quote fails. The decision is Approved only if every fact passed. The audit entry is saved before the response is returned, so nothing is shown without a record. Any exception, timeout or rate limit becomes Error and the customer gets the general safe message: the firewall fails closed. Then the three efficiency points along the bottom. Stack: FastAPI and SQLite on the backend, React and Vite on the frontend, Groq for the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8:10 to 8:50 (40 seconds). Switch to the Test suite page, where the batch run you started earlier has finished, and read the three tiles from the screen. The numbers on this slide are from the recorded live run on 1 October 2026 with openai/gpt-oss-20b: 0 rejected answers shown, 100% of violations caught, 0% of clean answers blocked, 9 AI calls for 50 answers. If today's run differs, say today's numbers; they depend on the Groq model. The most important one is the first: the customer view never showed an answer labelled Reject.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8:50 to 9:20 (30 seconds). Nothing was paid for. The only AI is Groq's free tier, which limits requests per minute and tokens per day; check the Groq console for the current numbers. The app stays under them with its own budget of 25 AI calls a minute, and the AI only runs when needed. If the limit is hit anyway, the firewall fails closed with an Error and a safe message. Rules and the audit log are stored locally in SQLite. The Governance page in the app shows the same list with live usage.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9:20 to 9:50 (30 seconds). Be direct about what the POC does not do. The verified-quote rule stops invented quotes, but the model can still cite a real policy sentence for a claim it does not fully support. Pattern extraction misses hours and weekday deadlines, and months count as 30 days. The rules favour blocking, so an unusual correct answer such as "99.9% uptime" gets a safe message. Promises are found by keywords such as refund, guarantee, trial and cancel. Results depend on the model; Groq can retire models, so the suite must be re-run after a change. And the token proxy is a local-demo setup, not production authentication.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9:50 to 10:00 (10 seconds). Close on the sheet's own definition of done: every row was demonstrated live. Twelve cases, both views, plus the live rule edit and the 50-answer batch. Invite questions. If asked for detail, the requirement to code to test mapping is in backend/docs/TRACEABILITY.md.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4F1E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47014"/>
          </a:xfrm>
          <a:prstGeom prst="rect">
            <a:avLst/>
          </a:prstGeom>
          <a:noFill/>
          <a:ln/>
        </p:spPr>
        <p:txBody>
          <a:bodyPr wrap="square" lIns="0" tIns="0" rIns="0" bIns="0" rtlCol="0" anchor="t"/>
          <a:lstStyle>
            <a:lvl1pPr algn="l" indent="0" marL="0">
              <a:lnSpc>
                <a:spcPct val="115000"/>
              </a:lnSpc>
              <a:buNone/>
              <a:defRPr lang="en-US" sz="3200" dirty="0">
                <a:solidFill>
                  <a:srgbClr val="0E1A2B"/>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564614"/>
            <a:ext cx="10566400" cy="4480586"/>
          </a:xfrm>
          <a:prstGeom prst="rect">
            <a:avLst/>
          </a:prstGeom>
          <a:noFill/>
          <a:ln/>
        </p:spPr>
        <p:txBody>
          <a:bodyPr wrap="square" lIns="0" tIns="0" rIns="0" bIns="0" rtlCol="0" anchor="t"/>
          <a:lstStyle>
            <a:lvl1pPr algn="l" indent="0" marL="0">
              <a:lnSpc>
                <a:spcPct val="140000"/>
              </a:lnSpc>
              <a:buNone/>
              <a:defRPr lang="en-US" sz="1600" dirty="0">
                <a:solidFill>
                  <a:srgbClr val="0E1A2B"/>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F1E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47014"/>
          </a:xfrm>
          <a:prstGeom prst="rect">
            <a:avLst/>
          </a:prstGeom>
          <a:noFill/>
          <a:ln/>
        </p:spPr>
        <p:txBody>
          <a:bodyPr wrap="square" lIns="0" tIns="0" rIns="0" bIns="0" rtlCol="0" anchor="t"/>
          <a:lstStyle>
            <a:lvl1pPr algn="l" indent="0" marL="0">
              <a:lnSpc>
                <a:spcPct val="115000"/>
              </a:lnSpc>
              <a:buNone/>
              <a:defRPr lang="en-US" sz="3200" dirty="0">
                <a:solidFill>
                  <a:srgbClr val="0E1A2B"/>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564614"/>
            <a:ext cx="10566400" cy="4480586"/>
          </a:xfrm>
          <a:prstGeom prst="rect">
            <a:avLst/>
          </a:prstGeom>
          <a:noFill/>
          <a:ln/>
        </p:spPr>
        <p:txBody>
          <a:bodyPr wrap="square" lIns="0" tIns="0" rIns="0" bIns="0" rtlCol="0" anchor="t"/>
          <a:lstStyle>
            <a:lvl1pPr algn="l" indent="0" marL="0">
              <a:lnSpc>
                <a:spcPct val="140000"/>
              </a:lnSpc>
              <a:buNone/>
              <a:defRPr lang="en-US" sz="1600" dirty="0">
                <a:solidFill>
                  <a:srgbClr val="0E1A2B"/>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2.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A2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42"/>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4A774"/>
                </a:solidFill>
                <a:latin typeface="JetBrains Mono" pitchFamily="49" charset="0"/>
                <a:ea typeface="JetBrains Mono" pitchFamily="49" charset="-122"/>
                <a:cs typeface="JetBrains Mono" pitchFamily="49" charset="-120"/>
              </a:rPr>
              <a:t>POC-11 · PRESENTATION DEMO · 10 MIN</a:t>
            </a:r>
            <a:endParaRPr lang="en-US" sz="1200" dirty="0"/>
          </a:p>
        </p:txBody>
      </p:sp>
      <p:sp>
        <p:nvSpPr>
          <p:cNvPr id="3" name="Text 1"/>
          <p:cNvSpPr/>
          <p:nvPr>
            <p:ph type="title"/>
          </p:nvPr>
        </p:nvSpPr>
        <p:spPr>
          <a:xfrm>
            <a:off x="812800" y="2336800"/>
            <a:ext cx="10883392" cy="16256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4F1EA"/>
                </a:solidFill>
                <a:latin typeface="IBM Plex Sans" pitchFamily="34" charset="0"/>
                <a:ea typeface="IBM Plex Sans" pitchFamily="34" charset="-122"/>
                <a:cs typeface="IBM Plex Sans" pitchFamily="34" charset="-120"/>
              </a:rPr>
              <a:t>Compliance Firewall for AI Answers</a:t>
            </a:r>
            <a:endParaRPr lang="en-US" sz="6000" dirty="0"/>
          </a:p>
        </p:txBody>
      </p:sp>
      <p:sp>
        <p:nvSpPr>
          <p:cNvPr id="4" name="Text 2"/>
          <p:cNvSpPr/>
          <p:nvPr/>
        </p:nvSpPr>
        <p:spPr>
          <a:xfrm>
            <a:off x="812800" y="4191000"/>
            <a:ext cx="10883392"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A9B6C8"/>
                </a:solidFill>
                <a:latin typeface="IBM Plex Sans" pitchFamily="34" charset="0"/>
                <a:ea typeface="IBM Plex Sans" pitchFamily="34" charset="-122"/>
                <a:cs typeface="IBM Plex Sans" pitchFamily="34" charset="-120"/>
              </a:rPr>
              <a:t>No unchecked answer reaches a customer.</a:t>
            </a:r>
            <a:endParaRPr lang="en-US" sz="2000" dirty="0"/>
          </a:p>
        </p:txBody>
      </p:sp>
      <p:sp>
        <p:nvSpPr>
          <p:cNvPr id="5" name="Text 3"/>
          <p:cNvSpPr/>
          <p:nvPr/>
        </p:nvSpPr>
        <p:spPr>
          <a:xfrm>
            <a:off x="812800" y="5831858"/>
            <a:ext cx="10883392"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6C8"/>
                </a:solidFill>
                <a:latin typeface="JetBrains Mono" pitchFamily="49" charset="0"/>
                <a:ea typeface="JetBrains Mono" pitchFamily="49" charset="-122"/>
                <a:cs typeface="JetBrains Mono" pitchFamily="49" charset="-120"/>
              </a:rPr>
              <a:t>Sheharyar · Demo company: Hisaab Pro, a fictional invoicing app</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1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E1A2B"/>
                </a:solidFill>
                <a:latin typeface="IBM Plex Sans" pitchFamily="34" charset="0"/>
                <a:ea typeface="IBM Plex Sans" pitchFamily="34" charset="-122"/>
                <a:cs typeface="IBM Plex Sans" pitchFamily="34" charset="-120"/>
              </a:rPr>
              <a:t>The client problem</a:t>
            </a:r>
            <a:endParaRPr lang="en-US" sz="3200" dirty="0"/>
          </a:p>
        </p:txBody>
      </p:sp>
      <p:sp>
        <p:nvSpPr>
          <p:cNvPr id="3" name="Text 1"/>
          <p:cNvSpPr/>
          <p:nvPr/>
        </p:nvSpPr>
        <p:spPr>
          <a:xfrm>
            <a:off x="812800" y="1564614"/>
            <a:ext cx="10883392" cy="6858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0E1A2B"/>
                </a:solidFill>
                <a:latin typeface="IBM Plex Sans" pitchFamily="34" charset="0"/>
                <a:ea typeface="IBM Plex Sans" pitchFamily="34" charset="-122"/>
                <a:cs typeface="IBM Plex Sans" pitchFamily="34" charset="-120"/>
              </a:rPr>
              <a:t>The AI assistant sometimes invents prices, discounts, refund terms or links. Each one is a legal risk.</a:t>
            </a:r>
            <a:endParaRPr lang="en-US" sz="2000" dirty="0"/>
          </a:p>
        </p:txBody>
      </p:sp>
      <p:sp>
        <p:nvSpPr>
          <p:cNvPr id="4" name="Shape 2"/>
          <p:cNvSpPr/>
          <p:nvPr/>
        </p:nvSpPr>
        <p:spPr>
          <a:xfrm>
            <a:off x="815975" y="2532989"/>
            <a:ext cx="2482850" cy="1818393"/>
          </a:xfrm>
          <a:prstGeom prst="roundRect">
            <a:avLst>
              <a:gd name="adj" fmla="val 4016"/>
            </a:avLst>
          </a:prstGeom>
          <a:solidFill>
            <a:srgbClr val="FCFBF7"/>
          </a:solidFill>
          <a:ln w="6350">
            <a:solidFill>
              <a:srgbClr val="D9D2C1"/>
            </a:solidFill>
            <a:prstDash val="solid"/>
          </a:ln>
        </p:spPr>
      </p:sp>
      <p:sp>
        <p:nvSpPr>
          <p:cNvPr id="5" name="Text 3"/>
          <p:cNvSpPr/>
          <p:nvPr/>
        </p:nvSpPr>
        <p:spPr>
          <a:xfrm>
            <a:off x="1047044" y="2764058"/>
            <a:ext cx="2081332" cy="238742"/>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C2410C"/>
                </a:solidFill>
                <a:latin typeface="JetBrains Mono" pitchFamily="49" charset="0"/>
                <a:ea typeface="JetBrains Mono" pitchFamily="49" charset="-122"/>
                <a:cs typeface="JetBrains Mono" pitchFamily="49" charset="-120"/>
              </a:rPr>
              <a:t>PRICE</a:t>
            </a:r>
            <a:endParaRPr lang="en-US" sz="1200" dirty="0"/>
          </a:p>
        </p:txBody>
      </p:sp>
      <p:sp>
        <p:nvSpPr>
          <p:cNvPr id="6" name="Text 4"/>
          <p:cNvSpPr/>
          <p:nvPr/>
        </p:nvSpPr>
        <p:spPr>
          <a:xfrm>
            <a:off x="1047044" y="3104400"/>
            <a:ext cx="2081332" cy="256514"/>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0E1A2B"/>
                </a:solidFill>
                <a:latin typeface="IBM Plex Sans" pitchFamily="34" charset="0"/>
                <a:ea typeface="IBM Plex Sans" pitchFamily="34" charset="-122"/>
                <a:cs typeface="IBM Plex Sans" pitchFamily="34" charset="-120"/>
              </a:rPr>
              <a:t>“Pro is $59 a month.”</a:t>
            </a:r>
            <a:endParaRPr lang="en-US" sz="1400" dirty="0"/>
          </a:p>
        </p:txBody>
      </p:sp>
      <p:sp>
        <p:nvSpPr>
          <p:cNvPr id="7" name="Text 5"/>
          <p:cNvSpPr/>
          <p:nvPr/>
        </p:nvSpPr>
        <p:spPr>
          <a:xfrm>
            <a:off x="1047044" y="3462514"/>
            <a:ext cx="2081332"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4858"/>
                </a:solidFill>
                <a:latin typeface="IBM Plex Sans" pitchFamily="34" charset="0"/>
                <a:ea typeface="IBM Plex Sans" pitchFamily="34" charset="-122"/>
                <a:cs typeface="IBM Plex Sans" pitchFamily="34" charset="-120"/>
              </a:rPr>
              <a:t>Official price: USD 49</a:t>
            </a:r>
            <a:endParaRPr lang="en-US" sz="1200" dirty="0"/>
          </a:p>
        </p:txBody>
      </p:sp>
      <p:sp>
        <p:nvSpPr>
          <p:cNvPr id="8" name="Shape 6"/>
          <p:cNvSpPr/>
          <p:nvPr/>
        </p:nvSpPr>
        <p:spPr>
          <a:xfrm>
            <a:off x="3508375" y="2532989"/>
            <a:ext cx="2482850" cy="1818393"/>
          </a:xfrm>
          <a:prstGeom prst="roundRect">
            <a:avLst>
              <a:gd name="adj" fmla="val 4016"/>
            </a:avLst>
          </a:prstGeom>
          <a:solidFill>
            <a:srgbClr val="FCFBF7"/>
          </a:solidFill>
          <a:ln w="6350">
            <a:solidFill>
              <a:srgbClr val="D9D2C1"/>
            </a:solidFill>
            <a:prstDash val="solid"/>
          </a:ln>
        </p:spPr>
      </p:sp>
      <p:sp>
        <p:nvSpPr>
          <p:cNvPr id="9" name="Text 7"/>
          <p:cNvSpPr/>
          <p:nvPr/>
        </p:nvSpPr>
        <p:spPr>
          <a:xfrm>
            <a:off x="3739445" y="2764058"/>
            <a:ext cx="2081332" cy="238742"/>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C2410C"/>
                </a:solidFill>
                <a:latin typeface="JetBrains Mono" pitchFamily="49" charset="0"/>
                <a:ea typeface="JetBrains Mono" pitchFamily="49" charset="-122"/>
                <a:cs typeface="JetBrains Mono" pitchFamily="49" charset="-120"/>
              </a:rPr>
              <a:t>DISCOUNT</a:t>
            </a:r>
            <a:endParaRPr lang="en-US" sz="1200" dirty="0"/>
          </a:p>
        </p:txBody>
      </p:sp>
      <p:sp>
        <p:nvSpPr>
          <p:cNvPr id="10" name="Text 8"/>
          <p:cNvSpPr/>
          <p:nvPr/>
        </p:nvSpPr>
        <p:spPr>
          <a:xfrm>
            <a:off x="3739445" y="3104400"/>
            <a:ext cx="2081332" cy="487627"/>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0E1A2B"/>
                </a:solidFill>
                <a:latin typeface="IBM Plex Sans" pitchFamily="34" charset="0"/>
                <a:ea typeface="IBM Plex Sans" pitchFamily="34" charset="-122"/>
                <a:cs typeface="IBM Plex Sans" pitchFamily="34" charset="-120"/>
              </a:rPr>
              <a:t>“Get 30% off with annual billing.”</a:t>
            </a:r>
            <a:endParaRPr lang="en-US" sz="1400" dirty="0"/>
          </a:p>
        </p:txBody>
      </p:sp>
      <p:sp>
        <p:nvSpPr>
          <p:cNvPr id="11" name="Text 9"/>
          <p:cNvSpPr/>
          <p:nvPr/>
        </p:nvSpPr>
        <p:spPr>
          <a:xfrm>
            <a:off x="3739445" y="3693627"/>
            <a:ext cx="2081332"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4858"/>
                </a:solidFill>
                <a:latin typeface="IBM Plex Sans" pitchFamily="34" charset="0"/>
                <a:ea typeface="IBM Plex Sans" pitchFamily="34" charset="-122"/>
                <a:cs typeface="IBM Plex Sans" pitchFamily="34" charset="-120"/>
              </a:rPr>
              <a:t>Approved discount: 20%</a:t>
            </a:r>
            <a:endParaRPr lang="en-US" sz="1200" dirty="0"/>
          </a:p>
        </p:txBody>
      </p:sp>
      <p:sp>
        <p:nvSpPr>
          <p:cNvPr id="12" name="Shape 10"/>
          <p:cNvSpPr/>
          <p:nvPr/>
        </p:nvSpPr>
        <p:spPr>
          <a:xfrm>
            <a:off x="6200775" y="2532989"/>
            <a:ext cx="2482850" cy="1818393"/>
          </a:xfrm>
          <a:prstGeom prst="roundRect">
            <a:avLst>
              <a:gd name="adj" fmla="val 4016"/>
            </a:avLst>
          </a:prstGeom>
          <a:solidFill>
            <a:srgbClr val="FCFBF7"/>
          </a:solidFill>
          <a:ln w="6350">
            <a:solidFill>
              <a:srgbClr val="D9D2C1"/>
            </a:solidFill>
            <a:prstDash val="solid"/>
          </a:ln>
        </p:spPr>
      </p:sp>
      <p:sp>
        <p:nvSpPr>
          <p:cNvPr id="13" name="Text 11"/>
          <p:cNvSpPr/>
          <p:nvPr/>
        </p:nvSpPr>
        <p:spPr>
          <a:xfrm>
            <a:off x="6431845" y="2764058"/>
            <a:ext cx="2081332" cy="238742"/>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C2410C"/>
                </a:solidFill>
                <a:latin typeface="JetBrains Mono" pitchFamily="49" charset="0"/>
                <a:ea typeface="JetBrains Mono" pitchFamily="49" charset="-122"/>
                <a:cs typeface="JetBrains Mono" pitchFamily="49" charset="-120"/>
              </a:rPr>
              <a:t>REFUND</a:t>
            </a:r>
            <a:endParaRPr lang="en-US" sz="1200" dirty="0"/>
          </a:p>
        </p:txBody>
      </p:sp>
      <p:sp>
        <p:nvSpPr>
          <p:cNvPr id="14" name="Text 12"/>
          <p:cNvSpPr/>
          <p:nvPr/>
        </p:nvSpPr>
        <p:spPr>
          <a:xfrm>
            <a:off x="6431845" y="3104400"/>
            <a:ext cx="2081332" cy="487627"/>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0E1A2B"/>
                </a:solidFill>
                <a:latin typeface="IBM Plex Sans" pitchFamily="34" charset="0"/>
                <a:ea typeface="IBM Plex Sans" pitchFamily="34" charset="-122"/>
                <a:cs typeface="IBM Plex Sans" pitchFamily="34" charset="-120"/>
              </a:rPr>
              <a:t>“Guaranteed refund, no questions asked!”</a:t>
            </a:r>
            <a:endParaRPr lang="en-US" sz="1400" dirty="0"/>
          </a:p>
        </p:txBody>
      </p:sp>
      <p:sp>
        <p:nvSpPr>
          <p:cNvPr id="15" name="Text 13"/>
          <p:cNvSpPr/>
          <p:nvPr/>
        </p:nvSpPr>
        <p:spPr>
          <a:xfrm>
            <a:off x="6431845" y="3693627"/>
            <a:ext cx="2081332" cy="45208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4858"/>
                </a:solidFill>
                <a:latin typeface="IBM Plex Sans" pitchFamily="34" charset="0"/>
                <a:ea typeface="IBM Plex Sans" pitchFamily="34" charset="-122"/>
                <a:cs typeface="IBM Plex Sans" pitchFamily="34" charset="-120"/>
              </a:rPr>
              <a:t>Policy: refunds within 14 days</a:t>
            </a:r>
            <a:endParaRPr lang="en-US" sz="1200" dirty="0"/>
          </a:p>
        </p:txBody>
      </p:sp>
      <p:sp>
        <p:nvSpPr>
          <p:cNvPr id="16" name="Shape 14"/>
          <p:cNvSpPr/>
          <p:nvPr/>
        </p:nvSpPr>
        <p:spPr>
          <a:xfrm>
            <a:off x="8893175" y="2532989"/>
            <a:ext cx="2482850" cy="1818393"/>
          </a:xfrm>
          <a:prstGeom prst="roundRect">
            <a:avLst>
              <a:gd name="adj" fmla="val 4016"/>
            </a:avLst>
          </a:prstGeom>
          <a:solidFill>
            <a:srgbClr val="FCFBF7"/>
          </a:solidFill>
          <a:ln w="6350">
            <a:solidFill>
              <a:srgbClr val="D9D2C1"/>
            </a:solidFill>
            <a:prstDash val="solid"/>
          </a:ln>
        </p:spPr>
      </p:sp>
      <p:sp>
        <p:nvSpPr>
          <p:cNvPr id="17" name="Text 15"/>
          <p:cNvSpPr/>
          <p:nvPr/>
        </p:nvSpPr>
        <p:spPr>
          <a:xfrm>
            <a:off x="9124245" y="2764058"/>
            <a:ext cx="2081332" cy="238742"/>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C2410C"/>
                </a:solidFill>
                <a:latin typeface="JetBrains Mono" pitchFamily="49" charset="0"/>
                <a:ea typeface="JetBrains Mono" pitchFamily="49" charset="-122"/>
                <a:cs typeface="JetBrains Mono" pitchFamily="49" charset="-120"/>
              </a:rPr>
              <a:t>LINK</a:t>
            </a:r>
            <a:endParaRPr lang="en-US" sz="1200" dirty="0"/>
          </a:p>
        </p:txBody>
      </p:sp>
      <p:sp>
        <p:nvSpPr>
          <p:cNvPr id="18" name="Text 16"/>
          <p:cNvSpPr/>
          <p:nvPr/>
        </p:nvSpPr>
        <p:spPr>
          <a:xfrm>
            <a:off x="9124245" y="3104400"/>
            <a:ext cx="2081332" cy="487627"/>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0E1A2B"/>
                </a:solidFill>
                <a:latin typeface="IBM Plex Sans" pitchFamily="34" charset="0"/>
                <a:ea typeface="IBM Plex Sans" pitchFamily="34" charset="-122"/>
                <a:cs typeface="IBM Plex Sans" pitchFamily="34" charset="-120"/>
              </a:rPr>
              <a:t>“See www.deals.com for offers.”</a:t>
            </a:r>
            <a:endParaRPr lang="en-US" sz="1400" dirty="0"/>
          </a:p>
        </p:txBody>
      </p:sp>
      <p:sp>
        <p:nvSpPr>
          <p:cNvPr id="19" name="Text 17"/>
          <p:cNvSpPr/>
          <p:nvPr/>
        </p:nvSpPr>
        <p:spPr>
          <a:xfrm>
            <a:off x="9124245" y="3693627"/>
            <a:ext cx="2081332"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4858"/>
                </a:solidFill>
                <a:latin typeface="IBM Plex Sans" pitchFamily="34" charset="0"/>
                <a:ea typeface="IBM Plex Sans" pitchFamily="34" charset="-122"/>
                <a:cs typeface="IBM Plex Sans" pitchFamily="34" charset="-120"/>
              </a:rPr>
              <a:t>Not on the allowed list</a:t>
            </a:r>
            <a:endParaRPr lang="en-US" sz="1200" dirty="0"/>
          </a:p>
        </p:txBody>
      </p:sp>
      <p:sp>
        <p:nvSpPr>
          <p:cNvPr id="20" name="Text 18"/>
          <p:cNvSpPr/>
          <p:nvPr/>
        </p:nvSpPr>
        <p:spPr>
          <a:xfrm>
            <a:off x="812800" y="6238258"/>
            <a:ext cx="10883392"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676"/>
                </a:solidFill>
                <a:latin typeface="JetBrains Mono" pitchFamily="49" charset="0"/>
                <a:ea typeface="JetBrains Mono" pitchFamily="49" charset="-122"/>
                <a:cs typeface="JetBrains Mono" pitchFamily="49" charset="-120"/>
              </a:rPr>
              <a:t>POC-11 · Compliance Firewall · 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1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E1A2B"/>
                </a:solidFill>
                <a:latin typeface="IBM Plex Sans" pitchFamily="34" charset="0"/>
                <a:ea typeface="IBM Plex Sans" pitchFamily="34" charset="-122"/>
                <a:cs typeface="IBM Plex Sans" pitchFamily="34" charset="-120"/>
              </a:rPr>
              <a:t>What the firewall does</a:t>
            </a:r>
            <a:endParaRPr lang="en-US" sz="3200" dirty="0"/>
          </a:p>
        </p:txBody>
      </p:sp>
      <p:sp>
        <p:nvSpPr>
          <p:cNvPr id="3" name="Shape 1"/>
          <p:cNvSpPr/>
          <p:nvPr/>
        </p:nvSpPr>
        <p:spPr>
          <a:xfrm>
            <a:off x="815975" y="2066176"/>
            <a:ext cx="2406650" cy="1203766"/>
          </a:xfrm>
          <a:prstGeom prst="roundRect">
            <a:avLst>
              <a:gd name="adj" fmla="val 6066"/>
            </a:avLst>
          </a:prstGeom>
          <a:solidFill>
            <a:srgbClr val="FCFBF7"/>
          </a:solidFill>
          <a:ln w="6350">
            <a:solidFill>
              <a:srgbClr val="D9D2C1"/>
            </a:solidFill>
            <a:prstDash val="solid"/>
          </a:ln>
        </p:spPr>
      </p:sp>
      <p:sp>
        <p:nvSpPr>
          <p:cNvPr id="4" name="Text 2"/>
          <p:cNvSpPr/>
          <p:nvPr/>
        </p:nvSpPr>
        <p:spPr>
          <a:xfrm>
            <a:off x="1047044" y="2297244"/>
            <a:ext cx="2002846" cy="238742"/>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E1A2B"/>
                </a:solidFill>
                <a:latin typeface="IBM Plex Sans" pitchFamily="34" charset="0"/>
                <a:ea typeface="IBM Plex Sans" pitchFamily="34" charset="-122"/>
                <a:cs typeface="IBM Plex Sans" pitchFamily="34" charset="-120"/>
              </a:rPr>
              <a:t>AI draft answer</a:t>
            </a:r>
            <a:endParaRPr lang="en-US" sz="1400" dirty="0"/>
          </a:p>
        </p:txBody>
      </p:sp>
      <p:sp>
        <p:nvSpPr>
          <p:cNvPr id="5" name="Text 3"/>
          <p:cNvSpPr/>
          <p:nvPr/>
        </p:nvSpPr>
        <p:spPr>
          <a:xfrm>
            <a:off x="1047044" y="2612188"/>
            <a:ext cx="2002846" cy="45208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4858"/>
                </a:solidFill>
                <a:latin typeface="IBM Plex Sans" pitchFamily="34" charset="0"/>
                <a:ea typeface="IBM Plex Sans" pitchFamily="34" charset="-122"/>
                <a:cs typeface="IBM Plex Sans" pitchFamily="34" charset="-120"/>
              </a:rPr>
              <a:t>Intercepted before the customer sees anything</a:t>
            </a:r>
            <a:endParaRPr lang="en-US" sz="1200" dirty="0"/>
          </a:p>
        </p:txBody>
      </p:sp>
      <p:pic>
        <p:nvPicPr>
          <p:cNvPr id="6" name="Image 0" descr="arrow-right">    </p:cNvPr>
          <p:cNvPicPr>
            <a:picLocks noChangeAspect="1"/>
          </p:cNvPicPr>
          <p:nvPr/>
        </p:nvPicPr>
        <p:blipFill>
          <a:blip r:embed="rId1"/>
          <a:srcRect l="0" r="0" t="0" b="0"/>
          <a:stretch/>
        </p:blipFill>
        <p:spPr>
          <a:xfrm>
            <a:off x="3378200" y="2591859"/>
            <a:ext cx="254000" cy="152400"/>
          </a:xfrm>
          <a:prstGeom prst="rect">
            <a:avLst/>
          </a:prstGeom>
        </p:spPr>
      </p:pic>
      <p:sp>
        <p:nvSpPr>
          <p:cNvPr id="7" name="Shape 4"/>
          <p:cNvSpPr/>
          <p:nvPr/>
        </p:nvSpPr>
        <p:spPr>
          <a:xfrm>
            <a:off x="3784600" y="1697831"/>
            <a:ext cx="3733800" cy="1940454"/>
          </a:xfrm>
          <a:prstGeom prst="roundRect">
            <a:avLst>
              <a:gd name="adj" fmla="val 3927"/>
            </a:avLst>
          </a:prstGeom>
          <a:solidFill>
            <a:srgbClr val="0E1A2B"/>
          </a:solidFill>
          <a:ln/>
        </p:spPr>
      </p:sp>
      <p:sp>
        <p:nvSpPr>
          <p:cNvPr id="8" name="Text 5"/>
          <p:cNvSpPr/>
          <p:nvPr/>
        </p:nvSpPr>
        <p:spPr>
          <a:xfrm>
            <a:off x="4013200" y="1926431"/>
            <a:ext cx="3374898" cy="238742"/>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4F1EA"/>
                </a:solidFill>
                <a:latin typeface="IBM Plex Sans" pitchFamily="34" charset="0"/>
                <a:ea typeface="IBM Plex Sans" pitchFamily="34" charset="-122"/>
                <a:cs typeface="IBM Plex Sans" pitchFamily="34" charset="-120"/>
              </a:rPr>
              <a:t>Firewall</a:t>
            </a:r>
            <a:endParaRPr lang="en-US" sz="1400" dirty="0"/>
          </a:p>
        </p:txBody>
      </p:sp>
      <p:sp>
        <p:nvSpPr>
          <p:cNvPr id="9" name="Text 6"/>
          <p:cNvSpPr/>
          <p:nvPr/>
        </p:nvSpPr>
        <p:spPr>
          <a:xfrm>
            <a:off x="4013200" y="2241373"/>
            <a:ext cx="3374898" cy="45208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4F1EA"/>
                </a:solidFill>
                <a:latin typeface="IBM Plex Sans" pitchFamily="34" charset="0"/>
                <a:ea typeface="IBM Plex Sans" pitchFamily="34" charset="-122"/>
                <a:cs typeface="IBM Plex Sans" pitchFamily="34" charset="-120"/>
              </a:rPr>
              <a:t>Extracts every fact: prices, %, dates, links, promises</a:t>
            </a:r>
            <a:endParaRPr lang="en-US" sz="1200" dirty="0"/>
          </a:p>
        </p:txBody>
      </p:sp>
      <p:sp>
        <p:nvSpPr>
          <p:cNvPr id="10" name="Text 7"/>
          <p:cNvSpPr/>
          <p:nvPr/>
        </p:nvSpPr>
        <p:spPr>
          <a:xfrm>
            <a:off x="4013200" y="2769659"/>
            <a:ext cx="3374898" cy="66542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6C8"/>
                </a:solidFill>
                <a:latin typeface="IBM Plex Sans" pitchFamily="34" charset="0"/>
                <a:ea typeface="IBM Plex Sans" pitchFamily="34" charset="-122"/>
                <a:cs typeface="IBM Plex Sans" pitchFamily="34" charset="-120"/>
              </a:rPr>
              <a:t>Checks each one against the trusted rules: official prices, policies, allowed links, banned phrases</a:t>
            </a:r>
            <a:endParaRPr lang="en-US" sz="1200" dirty="0"/>
          </a:p>
        </p:txBody>
      </p:sp>
      <p:pic>
        <p:nvPicPr>
          <p:cNvPr id="11" name="Image 1" descr="arrow-right">    </p:cNvPr>
          <p:cNvPicPr>
            <a:picLocks noChangeAspect="1"/>
          </p:cNvPicPr>
          <p:nvPr/>
        </p:nvPicPr>
        <p:blipFill>
          <a:blip r:embed="rId2"/>
          <a:srcRect l="0" r="0" t="0" b="0"/>
          <a:stretch/>
        </p:blipFill>
        <p:spPr>
          <a:xfrm>
            <a:off x="7670800" y="2591859"/>
            <a:ext cx="254000" cy="152400"/>
          </a:xfrm>
          <a:prstGeom prst="rect">
            <a:avLst/>
          </a:prstGeom>
        </p:spPr>
      </p:pic>
      <p:sp>
        <p:nvSpPr>
          <p:cNvPr id="12" name="Shape 8"/>
          <p:cNvSpPr/>
          <p:nvPr/>
        </p:nvSpPr>
        <p:spPr>
          <a:xfrm>
            <a:off x="8083550" y="1570963"/>
            <a:ext cx="3289300" cy="919162"/>
          </a:xfrm>
          <a:prstGeom prst="roundRect">
            <a:avLst>
              <a:gd name="adj" fmla="val 7599"/>
            </a:avLst>
          </a:prstGeom>
          <a:solidFill>
            <a:srgbClr val="FCFBF7"/>
          </a:solidFill>
          <a:ln w="12700">
            <a:solidFill>
              <a:srgbClr val="1D4ED8"/>
            </a:solidFill>
            <a:prstDash val="solid"/>
          </a:ln>
        </p:spPr>
      </p:sp>
      <p:sp>
        <p:nvSpPr>
          <p:cNvPr id="13" name="Text 9"/>
          <p:cNvSpPr/>
          <p:nvPr/>
        </p:nvSpPr>
        <p:spPr>
          <a:xfrm>
            <a:off x="8291689" y="1779102"/>
            <a:ext cx="2959213" cy="238742"/>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D4ED8"/>
                </a:solidFill>
                <a:latin typeface="IBM Plex Sans" pitchFamily="34" charset="0"/>
                <a:ea typeface="IBM Plex Sans" pitchFamily="34" charset="-122"/>
                <a:cs typeface="IBM Plex Sans" pitchFamily="34" charset="-120"/>
              </a:rPr>
              <a:t>Approved</a:t>
            </a:r>
            <a:endParaRPr lang="en-US" sz="1400" dirty="0"/>
          </a:p>
        </p:txBody>
      </p:sp>
      <p:sp>
        <p:nvSpPr>
          <p:cNvPr id="14" name="Text 10"/>
          <p:cNvSpPr/>
          <p:nvPr/>
        </p:nvSpPr>
        <p:spPr>
          <a:xfrm>
            <a:off x="8291689" y="2068644"/>
            <a:ext cx="2959213"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E1A2B"/>
                </a:solidFill>
                <a:latin typeface="IBM Plex Sans" pitchFamily="34" charset="0"/>
                <a:ea typeface="IBM Plex Sans" pitchFamily="34" charset="-122"/>
                <a:cs typeface="IBM Plex Sans" pitchFamily="34" charset="-120"/>
              </a:rPr>
              <a:t>Customer sees the AI answer</a:t>
            </a:r>
            <a:endParaRPr lang="en-US" sz="1200" dirty="0"/>
          </a:p>
        </p:txBody>
      </p:sp>
      <p:sp>
        <p:nvSpPr>
          <p:cNvPr id="15" name="Shape 11"/>
          <p:cNvSpPr/>
          <p:nvPr/>
        </p:nvSpPr>
        <p:spPr>
          <a:xfrm>
            <a:off x="8077200" y="2648876"/>
            <a:ext cx="3302000" cy="1122627"/>
          </a:xfrm>
          <a:prstGeom prst="roundRect">
            <a:avLst>
              <a:gd name="adj" fmla="val 6788"/>
            </a:avLst>
          </a:prstGeom>
          <a:solidFill>
            <a:srgbClr val="C2410C"/>
          </a:solidFill>
          <a:ln/>
        </p:spPr>
      </p:sp>
      <p:sp>
        <p:nvSpPr>
          <p:cNvPr id="16" name="Text 12"/>
          <p:cNvSpPr/>
          <p:nvPr/>
        </p:nvSpPr>
        <p:spPr>
          <a:xfrm>
            <a:off x="8280400" y="2852076"/>
            <a:ext cx="2982468" cy="238742"/>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CFBF7"/>
                </a:solidFill>
                <a:latin typeface="IBM Plex Sans" pitchFamily="34" charset="0"/>
                <a:ea typeface="IBM Plex Sans" pitchFamily="34" charset="-122"/>
                <a:cs typeface="IBM Plex Sans" pitchFamily="34" charset="-120"/>
              </a:rPr>
              <a:t>Rejected or Error</a:t>
            </a:r>
            <a:endParaRPr lang="en-US" sz="1400" dirty="0"/>
          </a:p>
        </p:txBody>
      </p:sp>
      <p:sp>
        <p:nvSpPr>
          <p:cNvPr id="17" name="Text 13"/>
          <p:cNvSpPr/>
          <p:nvPr/>
        </p:nvSpPr>
        <p:spPr>
          <a:xfrm>
            <a:off x="8280400" y="3141619"/>
            <a:ext cx="2982468" cy="45208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CFBF7"/>
                </a:solidFill>
                <a:latin typeface="IBM Plex Sans" pitchFamily="34" charset="0"/>
                <a:ea typeface="IBM Plex Sans" pitchFamily="34" charset="-122"/>
                <a:cs typeface="IBM Plex Sans" pitchFamily="34" charset="-120"/>
              </a:rPr>
              <a:t>Customer sees a pre-approved safe message</a:t>
            </a:r>
            <a:endParaRPr lang="en-US" sz="1200" dirty="0"/>
          </a:p>
        </p:txBody>
      </p:sp>
      <p:sp>
        <p:nvSpPr>
          <p:cNvPr id="18" name="Text 14"/>
          <p:cNvSpPr/>
          <p:nvPr/>
        </p:nvSpPr>
        <p:spPr>
          <a:xfrm>
            <a:off x="812800" y="4076303"/>
            <a:ext cx="10883392" cy="27428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C4858"/>
                </a:solidFill>
                <a:latin typeface="IBM Plex Sans" pitchFamily="34" charset="0"/>
                <a:ea typeface="IBM Plex Sans" pitchFamily="34" charset="-122"/>
                <a:cs typeface="IBM Plex Sans" pitchFamily="34" charset="-120"/>
              </a:rPr>
              <a:t>Every decision is saved to the audit log with the rule version used. The rules are versioned and edited through forms.</a:t>
            </a:r>
            <a:endParaRPr lang="en-US" sz="1400" dirty="0"/>
          </a:p>
        </p:txBody>
      </p:sp>
      <p:sp>
        <p:nvSpPr>
          <p:cNvPr id="19" name="Text 15"/>
          <p:cNvSpPr/>
          <p:nvPr/>
        </p:nvSpPr>
        <p:spPr>
          <a:xfrm>
            <a:off x="812800" y="6238258"/>
            <a:ext cx="10883392"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676"/>
                </a:solidFill>
                <a:latin typeface="JetBrains Mono" pitchFamily="49" charset="0"/>
                <a:ea typeface="JetBrains Mono" pitchFamily="49" charset="-122"/>
                <a:cs typeface="JetBrains Mono" pitchFamily="49" charset="-120"/>
              </a:rPr>
              <a:t>POC-11 · Compliance Firewall · 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C2410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42"/>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CFBF7"/>
                </a:solidFill>
                <a:latin typeface="JetBrains Mono" pitchFamily="49" charset="0"/>
                <a:ea typeface="JetBrains Mono" pitchFamily="49" charset="-122"/>
                <a:cs typeface="JetBrains Mono" pitchFamily="49" charset="-120"/>
              </a:rPr>
              <a:t>LIVE DEMO · 12 CASES</a:t>
            </a:r>
            <a:endParaRPr lang="en-US" sz="1200" dirty="0"/>
          </a:p>
        </p:txBody>
      </p:sp>
      <p:sp>
        <p:nvSpPr>
          <p:cNvPr id="3" name="Text 1"/>
          <p:cNvSpPr/>
          <p:nvPr>
            <p:ph type="title"/>
          </p:nvPr>
        </p:nvSpPr>
        <p:spPr>
          <a:xfrm>
            <a:off x="812800" y="1229342"/>
            <a:ext cx="10883392" cy="8255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CFBF7"/>
                </a:solidFill>
                <a:latin typeface="IBM Plex Sans" pitchFamily="34" charset="0"/>
                <a:ea typeface="IBM Plex Sans" pitchFamily="34" charset="-122"/>
                <a:cs typeface="IBM Plex Sans" pitchFamily="34" charset="-120"/>
              </a:rPr>
              <a:t>One answer, two views</a:t>
            </a:r>
            <a:endParaRPr lang="en-US" sz="6000" dirty="0"/>
          </a:p>
        </p:txBody>
      </p:sp>
      <p:sp>
        <p:nvSpPr>
          <p:cNvPr id="4" name="Shape 2"/>
          <p:cNvSpPr/>
          <p:nvPr/>
        </p:nvSpPr>
        <p:spPr>
          <a:xfrm>
            <a:off x="812800" y="4633030"/>
            <a:ext cx="5181600" cy="1412169"/>
          </a:xfrm>
          <a:prstGeom prst="roundRect">
            <a:avLst>
              <a:gd name="adj" fmla="val 5396"/>
            </a:avLst>
          </a:prstGeom>
          <a:solidFill>
            <a:srgbClr val="FCFBF7"/>
          </a:solidFill>
          <a:ln/>
        </p:spPr>
      </p:sp>
      <p:sp>
        <p:nvSpPr>
          <p:cNvPr id="5" name="Text 3"/>
          <p:cNvSpPr/>
          <p:nvPr/>
        </p:nvSpPr>
        <p:spPr>
          <a:xfrm>
            <a:off x="1066800" y="4887030"/>
            <a:ext cx="481380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E1A2B"/>
                </a:solidFill>
                <a:latin typeface="IBM Plex Sans" pitchFamily="34" charset="0"/>
                <a:ea typeface="IBM Plex Sans" pitchFamily="34" charset="-122"/>
                <a:cs typeface="IBM Plex Sans" pitchFamily="34" charset="-120"/>
              </a:rPr>
              <a:t>Customer view</a:t>
            </a:r>
            <a:endParaRPr lang="en-US" sz="2000" dirty="0"/>
          </a:p>
        </p:txBody>
      </p:sp>
      <p:sp>
        <p:nvSpPr>
          <p:cNvPr id="6" name="Text 4"/>
          <p:cNvSpPr/>
          <p:nvPr/>
        </p:nvSpPr>
        <p:spPr>
          <a:xfrm>
            <a:off x="1066800" y="5293430"/>
            <a:ext cx="4813808" cy="523169"/>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C4858"/>
                </a:solidFill>
                <a:latin typeface="IBM Plex Sans" pitchFamily="34" charset="0"/>
                <a:ea typeface="IBM Plex Sans" pitchFamily="34" charset="-122"/>
                <a:cs typeface="IBM Plex Sans" pitchFamily="34" charset="-120"/>
              </a:rPr>
              <a:t>A chat. It shows the approved answer or the safe message, and nothing else.</a:t>
            </a:r>
            <a:endParaRPr lang="en-US" sz="1400" dirty="0"/>
          </a:p>
        </p:txBody>
      </p:sp>
      <p:sp>
        <p:nvSpPr>
          <p:cNvPr id="7" name="Shape 5"/>
          <p:cNvSpPr/>
          <p:nvPr/>
        </p:nvSpPr>
        <p:spPr>
          <a:xfrm>
            <a:off x="6197600" y="4633030"/>
            <a:ext cx="5181600" cy="1412169"/>
          </a:xfrm>
          <a:prstGeom prst="roundRect">
            <a:avLst>
              <a:gd name="adj" fmla="val 5396"/>
            </a:avLst>
          </a:prstGeom>
          <a:solidFill>
            <a:srgbClr val="0E1A2B"/>
          </a:solidFill>
          <a:ln/>
        </p:spPr>
      </p:sp>
      <p:sp>
        <p:nvSpPr>
          <p:cNvPr id="8" name="Text 6"/>
          <p:cNvSpPr/>
          <p:nvPr/>
        </p:nvSpPr>
        <p:spPr>
          <a:xfrm>
            <a:off x="6451600" y="4887030"/>
            <a:ext cx="481380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4F1EA"/>
                </a:solidFill>
                <a:latin typeface="IBM Plex Sans" pitchFamily="34" charset="0"/>
                <a:ea typeface="IBM Plex Sans" pitchFamily="34" charset="-122"/>
                <a:cs typeface="IBM Plex Sans" pitchFamily="34" charset="-120"/>
              </a:rPr>
              <a:t>Compliance view</a:t>
            </a:r>
            <a:endParaRPr lang="en-US" sz="2000" dirty="0"/>
          </a:p>
        </p:txBody>
      </p:sp>
      <p:sp>
        <p:nvSpPr>
          <p:cNvPr id="9" name="Text 7"/>
          <p:cNvSpPr/>
          <p:nvPr/>
        </p:nvSpPr>
        <p:spPr>
          <a:xfrm>
            <a:off x="6451600" y="5293430"/>
            <a:ext cx="4813808" cy="523169"/>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B6C8"/>
                </a:solidFill>
                <a:latin typeface="IBM Plex Sans" pitchFamily="34" charset="0"/>
                <a:ea typeface="IBM Plex Sans" pitchFamily="34" charset="-122"/>
                <a:cs typeface="IBM Plex Sans" pitchFamily="34" charset="-120"/>
              </a:rPr>
              <a:t>The raw answer, every extracted fact marked pass or fail against its rule, and a plain-English reason.</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42"/>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C2410C"/>
                </a:solidFill>
                <a:latin typeface="JetBrains Mono" pitchFamily="49" charset="0"/>
                <a:ea typeface="JetBrains Mono" pitchFamily="49" charset="-122"/>
                <a:cs typeface="JetBrains Mono" pitchFamily="49" charset="-120"/>
              </a:rPr>
              <a:t>LIVE DEMO · 1 OF 3</a:t>
            </a:r>
            <a:endParaRPr lang="en-US" sz="1200" dirty="0"/>
          </a:p>
        </p:txBody>
      </p:sp>
      <p:sp>
        <p:nvSpPr>
          <p:cNvPr id="3" name="Text 1"/>
          <p:cNvSpPr/>
          <p:nvPr>
            <p:ph type="title"/>
          </p:nvPr>
        </p:nvSpPr>
        <p:spPr>
          <a:xfrm>
            <a:off x="812800" y="1127742"/>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E1A2B"/>
                </a:solidFill>
                <a:latin typeface="IBM Plex Sans" pitchFamily="34" charset="0"/>
                <a:ea typeface="IBM Plex Sans" pitchFamily="34" charset="-122"/>
                <a:cs typeface="IBM Plex Sans" pitchFamily="34" charset="-120"/>
              </a:rPr>
              <a:t>Success cases</a:t>
            </a:r>
            <a:endParaRPr lang="en-US" sz="3200" dirty="0"/>
          </a:p>
        </p:txBody>
      </p:sp>
      <p:sp>
        <p:nvSpPr>
          <p:cNvPr id="4" name="Shape 2"/>
          <p:cNvSpPr/>
          <p:nvPr/>
        </p:nvSpPr>
        <p:spPr>
          <a:xfrm>
            <a:off x="812800" y="1879557"/>
            <a:ext cx="10566400" cy="1549753"/>
          </a:xfrm>
          <a:prstGeom prst="rect">
            <a:avLst/>
          </a:prstGeom>
          <a:solidFill>
            <a:srgbClr val="FCFBF7"/>
          </a:solidFill>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4089" y="1890845"/>
          <a:ext cx="10555111" cy="1538464"/>
        </p:xfrm>
        <a:graphic>
          <a:graphicData uri="http://schemas.openxmlformats.org/drawingml/2006/table">
            <a:tbl>
              <a:tblPr/>
              <a:tblGrid>
                <a:gridCol w="4433147"/>
                <a:gridCol w="1477716"/>
                <a:gridCol w="4644249"/>
              </a:tblGrid>
              <a:tr h="384616">
                <a:tc>
                  <a:txBody>
                    <a:bodyPr/>
                    <a:lstStyle/>
                    <a:p>
                      <a:pPr indent="0" marL="0">
                        <a:lnSpc>
                          <a:spcPts val="1960"/>
                        </a:lnSpc>
                        <a:buNone/>
                      </a:pPr>
                      <a:r>
                        <a:rPr lang="en-US" sz="1400" b="1" dirty="0">
                          <a:solidFill>
                            <a:srgbClr val="0E1A2B"/>
                          </a:solidFill>
                          <a:latin typeface="IBM Plex Sans" pitchFamily="34" charset="0"/>
                          <a:ea typeface="IBM Plex Sans" pitchFamily="34" charset="-122"/>
                          <a:cs typeface="IBM Plex Sans" pitchFamily="34" charset="-120"/>
                        </a:rPr>
                        <a:t>Scenario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B8B3A8"/>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8B3A8"/>
                      </a:solidFill>
                      <a:prstDash val="solid"/>
                      <a:round/>
                      <a:headEnd type="none" w="med" len="med"/>
                      <a:tailEnd type="none" w="med" len="med"/>
                    </a:lnB>
                    <a:solidFill>
                      <a:srgbClr val="E6E0D2"/>
                    </a:solidFill>
                  </a:tcPr>
                </a:tc>
                <a:tc>
                  <a:txBody>
                    <a:bodyPr/>
                    <a:lstStyle/>
                    <a:p>
                      <a:pPr indent="0" marL="0">
                        <a:lnSpc>
                          <a:spcPts val="1960"/>
                        </a:lnSpc>
                        <a:buNone/>
                      </a:pPr>
                      <a:r>
                        <a:rPr lang="en-US" sz="1400" b="1" dirty="0">
                          <a:solidFill>
                            <a:srgbClr val="0E1A2B"/>
                          </a:solidFill>
                          <a:latin typeface="IBM Plex Sans" pitchFamily="34" charset="0"/>
                          <a:ea typeface="IBM Plex Sans" pitchFamily="34" charset="-122"/>
                          <a:cs typeface="IBM Plex Sans" pitchFamily="34" charset="-120"/>
                        </a:rPr>
                        <a:t>Decision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8B3A8"/>
                      </a:solidFill>
                      <a:prstDash val="solid"/>
                      <a:round/>
                      <a:headEnd type="none" w="med" len="med"/>
                      <a:tailEnd type="none" w="med" len="med"/>
                    </a:lnL>
                    <a:lnR w="12700" cap="flat" cmpd="sng" algn="ctr">
                      <a:solidFill>
                        <a:srgbClr val="B8B3A8"/>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8B3A8"/>
                      </a:solidFill>
                      <a:prstDash val="solid"/>
                      <a:round/>
                      <a:headEnd type="none" w="med" len="med"/>
                      <a:tailEnd type="none" w="med" len="med"/>
                    </a:lnB>
                    <a:solidFill>
                      <a:srgbClr val="E6E0D2"/>
                    </a:solidFill>
                  </a:tcPr>
                </a:tc>
                <a:tc>
                  <a:txBody>
                    <a:bodyPr/>
                    <a:lstStyle/>
                    <a:p>
                      <a:pPr indent="0" marL="0">
                        <a:lnSpc>
                          <a:spcPts val="1960"/>
                        </a:lnSpc>
                        <a:buNone/>
                      </a:pPr>
                      <a:r>
                        <a:rPr lang="en-US" sz="1400" b="1" dirty="0">
                          <a:solidFill>
                            <a:srgbClr val="0E1A2B"/>
                          </a:solidFill>
                          <a:latin typeface="IBM Plex Sans" pitchFamily="34" charset="0"/>
                          <a:ea typeface="IBM Plex Sans" pitchFamily="34" charset="-122"/>
                          <a:cs typeface="IBM Plex Sans" pitchFamily="34" charset="-120"/>
                        </a:rPr>
                        <a:t>Expected result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8B3A8"/>
                      </a:solidFill>
                      <a:prstDash val="solid"/>
                      <a:round/>
                      <a:headEnd type="none" w="med" len="med"/>
                      <a:tailEnd type="none" w="med" len="med"/>
                    </a:lnL>
                    <a:lnR w="12700" cap="flat" cmpd="sng" algn="ctr">
                      <a:solidFill>
                        <a:srgbClr val="B8B3A8"/>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8B3A8"/>
                      </a:solidFill>
                      <a:prstDash val="solid"/>
                      <a:round/>
                      <a:headEnd type="none" w="med" len="med"/>
                      <a:tailEnd type="none" w="med" len="med"/>
                    </a:lnB>
                    <a:solidFill>
                      <a:srgbClr val="E6E0D2"/>
                    </a:solidFill>
                  </a:tcPr>
                </a:tc>
              </a:tr>
              <a:tr h="384616">
                <a:tc>
                  <a:txBody>
                    <a:bodyPr/>
                    <a:lstStyle/>
                    <a:p>
                      <a:pPr indent="0" marL="0">
                        <a:lnSpc>
                          <a:spcPts val="1960"/>
                        </a:lnSpc>
                        <a:buNone/>
                      </a:pPr>
                      <a:r>
                        <a:rPr lang="en-US" sz="1400" dirty="0">
                          <a:solidFill>
                            <a:srgbClr val="0E1A2B"/>
                          </a:solidFill>
                          <a:latin typeface="IBM Plex Sans" pitchFamily="34" charset="0"/>
                          <a:ea typeface="IBM Plex Sans" pitchFamily="34" charset="-122"/>
                          <a:cs typeface="IBM Plex Sans" pitchFamily="34" charset="-120"/>
                        </a:rPr>
                        <a:t>Answer quotes the correct Pro plan price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8B3A8"/>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c>
                  <a:txBody>
                    <a:bodyPr/>
                    <a:lstStyle/>
                    <a:p>
                      <a:pPr indent="0" marL="0">
                        <a:lnSpc>
                          <a:spcPts val="1960"/>
                        </a:lnSpc>
                        <a:buNone/>
                      </a:pPr>
                      <a:r>
                        <a:rPr lang="en-US" sz="1400" dirty="0">
                          <a:solidFill>
                            <a:srgbClr val="1D4ED8"/>
                          </a:solidFill>
                          <a:latin typeface="IBM Plex Sans" pitchFamily="34" charset="0"/>
                          <a:ea typeface="IBM Plex Sans" pitchFamily="34" charset="-122"/>
                          <a:cs typeface="IBM Plex Sans" pitchFamily="34" charset="-120"/>
                        </a:rPr>
                        <a:t>Approved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8B3A8"/>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c>
                  <a:txBody>
                    <a:bodyPr/>
                    <a:lstStyle/>
                    <a:p>
                      <a:pPr indent="0" marL="0">
                        <a:lnSpc>
                          <a:spcPts val="1960"/>
                        </a:lnSpc>
                        <a:buNone/>
                      </a:pPr>
                      <a:r>
                        <a:rPr lang="en-US" sz="1400" dirty="0">
                          <a:solidFill>
                            <a:srgbClr val="0E1A2B"/>
                          </a:solidFill>
                          <a:latin typeface="IBM Plex Sans" pitchFamily="34" charset="0"/>
                          <a:ea typeface="IBM Plex Sans" pitchFamily="34" charset="-122"/>
                          <a:cs typeface="IBM Plex Sans" pitchFamily="34" charset="-120"/>
                        </a:rPr>
                        <a:t>The customer sees the answer.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8B3A8"/>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r>
              <a:tr h="384616">
                <a:tc>
                  <a:txBody>
                    <a:bodyPr/>
                    <a:lstStyle/>
                    <a:p>
                      <a:pPr indent="0" marL="0">
                        <a:lnSpc>
                          <a:spcPts val="1960"/>
                        </a:lnSpc>
                        <a:buNone/>
                      </a:pPr>
                      <a:r>
                        <a:rPr lang="en-US" sz="1400" dirty="0">
                          <a:solidFill>
                            <a:srgbClr val="0E1A2B"/>
                          </a:solidFill>
                          <a:latin typeface="IBM Plex Sans" pitchFamily="34" charset="0"/>
                          <a:ea typeface="IBM Plex Sans" pitchFamily="34" charset="-122"/>
                          <a:cs typeface="IBM Plex Sans" pitchFamily="34" charset="-120"/>
                        </a:rPr>
                        <a:t>Greeting with no facts: “Hi! How can I help?”</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c>
                  <a:txBody>
                    <a:bodyPr/>
                    <a:lstStyle/>
                    <a:p>
                      <a:pPr indent="0" marL="0">
                        <a:lnSpc>
                          <a:spcPts val="1960"/>
                        </a:lnSpc>
                        <a:buNone/>
                      </a:pPr>
                      <a:r>
                        <a:rPr lang="en-US" sz="1400" dirty="0">
                          <a:solidFill>
                            <a:srgbClr val="1D4ED8"/>
                          </a:solidFill>
                          <a:latin typeface="IBM Plex Sans" pitchFamily="34" charset="0"/>
                          <a:ea typeface="IBM Plex Sans" pitchFamily="34" charset="-122"/>
                          <a:cs typeface="IBM Plex Sans" pitchFamily="34" charset="-120"/>
                        </a:rPr>
                        <a:t>Approved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c>
                  <a:txBody>
                    <a:bodyPr/>
                    <a:lstStyle/>
                    <a:p>
                      <a:pPr indent="0" marL="0">
                        <a:lnSpc>
                          <a:spcPts val="1960"/>
                        </a:lnSpc>
                        <a:buNone/>
                      </a:pPr>
                      <a:r>
                        <a:rPr lang="en-US" sz="1400" dirty="0">
                          <a:solidFill>
                            <a:srgbClr val="0E1A2B"/>
                          </a:solidFill>
                          <a:latin typeface="IBM Plex Sans" pitchFamily="34" charset="0"/>
                          <a:ea typeface="IBM Plex Sans" pitchFamily="34" charset="-122"/>
                          <a:cs typeface="IBM Plex Sans" pitchFamily="34" charset="-120"/>
                        </a:rPr>
                        <a:t>Approved instantly. No AI check is needed.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r>
              <a:tr h="384616">
                <a:tc>
                  <a:txBody>
                    <a:bodyPr/>
                    <a:lstStyle/>
                    <a:p>
                      <a:pPr indent="0" marL="0">
                        <a:lnSpc>
                          <a:spcPts val="1960"/>
                        </a:lnSpc>
                        <a:buNone/>
                      </a:pPr>
                      <a:r>
                        <a:rPr lang="en-US" sz="1400" dirty="0">
                          <a:solidFill>
                            <a:srgbClr val="0E1A2B"/>
                          </a:solidFill>
                          <a:latin typeface="IBM Plex Sans" pitchFamily="34" charset="0"/>
                          <a:ea typeface="IBM Plex Sans" pitchFamily="34" charset="-122"/>
                          <a:cs typeface="IBM Plex Sans" pitchFamily="34" charset="-120"/>
                        </a:rPr>
                        <a:t>Answer quotes the correct 14-day refund policy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c>
                  <a:txBody>
                    <a:bodyPr/>
                    <a:lstStyle/>
                    <a:p>
                      <a:pPr indent="0" marL="0">
                        <a:lnSpc>
                          <a:spcPts val="1960"/>
                        </a:lnSpc>
                        <a:buNone/>
                      </a:pPr>
                      <a:r>
                        <a:rPr lang="en-US" sz="1400" dirty="0">
                          <a:solidFill>
                            <a:srgbClr val="1D4ED8"/>
                          </a:solidFill>
                          <a:latin typeface="IBM Plex Sans" pitchFamily="34" charset="0"/>
                          <a:ea typeface="IBM Plex Sans" pitchFamily="34" charset="-122"/>
                          <a:cs typeface="IBM Plex Sans" pitchFamily="34" charset="-120"/>
                        </a:rPr>
                        <a:t>Approved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c>
                  <a:txBody>
                    <a:bodyPr/>
                    <a:lstStyle/>
                    <a:p>
                      <a:pPr indent="0" marL="0">
                        <a:lnSpc>
                          <a:spcPts val="1960"/>
                        </a:lnSpc>
                        <a:buNone/>
                      </a:pPr>
                      <a:r>
                        <a:rPr lang="en-US" sz="1400" dirty="0">
                          <a:solidFill>
                            <a:srgbClr val="0E1A2B"/>
                          </a:solidFill>
                          <a:latin typeface="IBM Plex Sans" pitchFamily="34" charset="0"/>
                          <a:ea typeface="IBM Plex Sans" pitchFamily="34" charset="-122"/>
                          <a:cs typeface="IBM Plex Sans" pitchFamily="34" charset="-120"/>
                        </a:rPr>
                        <a:t>The customer sees the answer.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r>
            </a:tbl>
          </a:graphicData>
        </a:graphic>
      </p:graphicFrame>
      <p:sp>
        <p:nvSpPr>
          <p:cNvPr id="6" name="Text 3"/>
          <p:cNvSpPr/>
          <p:nvPr/>
        </p:nvSpPr>
        <p:spPr>
          <a:xfrm>
            <a:off x="812800" y="3734110"/>
            <a:ext cx="10883392" cy="27428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C4858"/>
                </a:solidFill>
                <a:latin typeface="IBM Plex Sans" pitchFamily="34" charset="0"/>
                <a:ea typeface="IBM Plex Sans" pitchFamily="34" charset="-122"/>
                <a:cs typeface="IBM Plex Sans" pitchFamily="34" charset="-120"/>
              </a:rPr>
              <a:t>A correct answer passes through unchanged. An answer with no facts never reaches the AI checker.</a:t>
            </a:r>
            <a:endParaRPr lang="en-US" sz="1400" dirty="0"/>
          </a:p>
        </p:txBody>
      </p:sp>
      <p:sp>
        <p:nvSpPr>
          <p:cNvPr id="7" name="Text 4"/>
          <p:cNvSpPr/>
          <p:nvPr/>
        </p:nvSpPr>
        <p:spPr>
          <a:xfrm>
            <a:off x="812800" y="6238258"/>
            <a:ext cx="10883392"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676"/>
                </a:solidFill>
                <a:latin typeface="JetBrains Mono" pitchFamily="49" charset="0"/>
                <a:ea typeface="JetBrains Mono" pitchFamily="49" charset="-122"/>
                <a:cs typeface="JetBrains Mono" pitchFamily="49" charset="-120"/>
              </a:rPr>
              <a:t>POC-11 · Compliance Firewall · 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42"/>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C2410C"/>
                </a:solidFill>
                <a:latin typeface="JetBrains Mono" pitchFamily="49" charset="0"/>
                <a:ea typeface="JetBrains Mono" pitchFamily="49" charset="-122"/>
                <a:cs typeface="JetBrains Mono" pitchFamily="49" charset="-120"/>
              </a:rPr>
              <a:t>LIVE DEMO · 2 OF 3</a:t>
            </a:r>
            <a:endParaRPr lang="en-US" sz="1200" dirty="0"/>
          </a:p>
        </p:txBody>
      </p:sp>
      <p:sp>
        <p:nvSpPr>
          <p:cNvPr id="3" name="Text 1"/>
          <p:cNvSpPr/>
          <p:nvPr>
            <p:ph type="title"/>
          </p:nvPr>
        </p:nvSpPr>
        <p:spPr>
          <a:xfrm>
            <a:off x="812800" y="1127742"/>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E1A2B"/>
                </a:solidFill>
                <a:latin typeface="IBM Plex Sans" pitchFamily="34" charset="0"/>
                <a:ea typeface="IBM Plex Sans" pitchFamily="34" charset="-122"/>
                <a:cs typeface="IBM Plex Sans" pitchFamily="34" charset="-120"/>
              </a:rPr>
              <a:t>Edge cases</a:t>
            </a:r>
            <a:endParaRPr lang="en-US" sz="3200" dirty="0"/>
          </a:p>
        </p:txBody>
      </p:sp>
      <p:sp>
        <p:nvSpPr>
          <p:cNvPr id="4" name="Shape 2"/>
          <p:cNvSpPr/>
          <p:nvPr/>
        </p:nvSpPr>
        <p:spPr>
          <a:xfrm>
            <a:off x="812800" y="1879557"/>
            <a:ext cx="10566400" cy="2681023"/>
          </a:xfrm>
          <a:prstGeom prst="rect">
            <a:avLst/>
          </a:prstGeom>
          <a:solidFill>
            <a:srgbClr val="FCFBF7"/>
          </a:solidFill>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4089" y="1890845"/>
          <a:ext cx="10555111" cy="2669734"/>
        </p:xfrm>
        <a:graphic>
          <a:graphicData uri="http://schemas.openxmlformats.org/drawingml/2006/table">
            <a:tbl>
              <a:tblPr/>
              <a:tblGrid>
                <a:gridCol w="4433147"/>
                <a:gridCol w="1477716"/>
                <a:gridCol w="4644249"/>
              </a:tblGrid>
              <a:tr h="384616">
                <a:tc>
                  <a:txBody>
                    <a:bodyPr/>
                    <a:lstStyle/>
                    <a:p>
                      <a:pPr indent="0" marL="0">
                        <a:lnSpc>
                          <a:spcPts val="1960"/>
                        </a:lnSpc>
                        <a:buNone/>
                      </a:pPr>
                      <a:r>
                        <a:rPr lang="en-US" sz="1400" b="1" dirty="0">
                          <a:solidFill>
                            <a:srgbClr val="0E1A2B"/>
                          </a:solidFill>
                          <a:latin typeface="IBM Plex Sans" pitchFamily="34" charset="0"/>
                          <a:ea typeface="IBM Plex Sans" pitchFamily="34" charset="-122"/>
                          <a:cs typeface="IBM Plex Sans" pitchFamily="34" charset="-120"/>
                        </a:rPr>
                        <a:t>Scenario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B8B3A8"/>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8B3A8"/>
                      </a:solidFill>
                      <a:prstDash val="solid"/>
                      <a:round/>
                      <a:headEnd type="none" w="med" len="med"/>
                      <a:tailEnd type="none" w="med" len="med"/>
                    </a:lnB>
                    <a:solidFill>
                      <a:srgbClr val="E6E0D2"/>
                    </a:solidFill>
                  </a:tcPr>
                </a:tc>
                <a:tc>
                  <a:txBody>
                    <a:bodyPr/>
                    <a:lstStyle/>
                    <a:p>
                      <a:pPr indent="0" marL="0">
                        <a:lnSpc>
                          <a:spcPts val="1960"/>
                        </a:lnSpc>
                        <a:buNone/>
                      </a:pPr>
                      <a:r>
                        <a:rPr lang="en-US" sz="1400" b="1" dirty="0">
                          <a:solidFill>
                            <a:srgbClr val="0E1A2B"/>
                          </a:solidFill>
                          <a:latin typeface="IBM Plex Sans" pitchFamily="34" charset="0"/>
                          <a:ea typeface="IBM Plex Sans" pitchFamily="34" charset="-122"/>
                          <a:cs typeface="IBM Plex Sans" pitchFamily="34" charset="-120"/>
                        </a:rPr>
                        <a:t>Decision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8B3A8"/>
                      </a:solidFill>
                      <a:prstDash val="solid"/>
                      <a:round/>
                      <a:headEnd type="none" w="med" len="med"/>
                      <a:tailEnd type="none" w="med" len="med"/>
                    </a:lnL>
                    <a:lnR w="12700" cap="flat" cmpd="sng" algn="ctr">
                      <a:solidFill>
                        <a:srgbClr val="B8B3A8"/>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8B3A8"/>
                      </a:solidFill>
                      <a:prstDash val="solid"/>
                      <a:round/>
                      <a:headEnd type="none" w="med" len="med"/>
                      <a:tailEnd type="none" w="med" len="med"/>
                    </a:lnB>
                    <a:solidFill>
                      <a:srgbClr val="E6E0D2"/>
                    </a:solidFill>
                  </a:tcPr>
                </a:tc>
                <a:tc>
                  <a:txBody>
                    <a:bodyPr/>
                    <a:lstStyle/>
                    <a:p>
                      <a:pPr indent="0" marL="0">
                        <a:lnSpc>
                          <a:spcPts val="1960"/>
                        </a:lnSpc>
                        <a:buNone/>
                      </a:pPr>
                      <a:r>
                        <a:rPr lang="en-US" sz="1400" b="1" dirty="0">
                          <a:solidFill>
                            <a:srgbClr val="0E1A2B"/>
                          </a:solidFill>
                          <a:latin typeface="IBM Plex Sans" pitchFamily="34" charset="0"/>
                          <a:ea typeface="IBM Plex Sans" pitchFamily="34" charset="-122"/>
                          <a:cs typeface="IBM Plex Sans" pitchFamily="34" charset="-120"/>
                        </a:rPr>
                        <a:t>Expected result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8B3A8"/>
                      </a:solidFill>
                      <a:prstDash val="solid"/>
                      <a:round/>
                      <a:headEnd type="none" w="med" len="med"/>
                      <a:tailEnd type="none" w="med" len="med"/>
                    </a:lnL>
                    <a:lnR w="12700" cap="flat" cmpd="sng" algn="ctr">
                      <a:solidFill>
                        <a:srgbClr val="B8B3A8"/>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8B3A8"/>
                      </a:solidFill>
                      <a:prstDash val="solid"/>
                      <a:round/>
                      <a:headEnd type="none" w="med" len="med"/>
                      <a:tailEnd type="none" w="med" len="med"/>
                    </a:lnB>
                    <a:solidFill>
                      <a:srgbClr val="E6E0D2"/>
                    </a:solidFill>
                  </a:tcPr>
                </a:tc>
              </a:tr>
              <a:tr h="633501">
                <a:tc>
                  <a:txBody>
                    <a:bodyPr/>
                    <a:lstStyle/>
                    <a:p>
                      <a:pPr indent="0" marL="0">
                        <a:lnSpc>
                          <a:spcPts val="1960"/>
                        </a:lnSpc>
                        <a:buNone/>
                      </a:pPr>
                      <a:r>
                        <a:rPr lang="en-US" sz="1400" dirty="0">
                          <a:solidFill>
                            <a:srgbClr val="0E1A2B"/>
                          </a:solidFill>
                          <a:latin typeface="IBM Plex Sans" pitchFamily="34" charset="0"/>
                          <a:ea typeface="IBM Plex Sans" pitchFamily="34" charset="-122"/>
                          <a:cs typeface="IBM Plex Sans" pitchFamily="34" charset="-120"/>
                        </a:rPr>
                        <a:t>Same price in a different format: “Rs 4,999” vs “4999 PKR”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8B3A8"/>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c>
                  <a:txBody>
                    <a:bodyPr/>
                    <a:lstStyle/>
                    <a:p>
                      <a:pPr indent="0" marL="0">
                        <a:lnSpc>
                          <a:spcPts val="1960"/>
                        </a:lnSpc>
                        <a:buNone/>
                      </a:pPr>
                      <a:r>
                        <a:rPr lang="en-US" sz="1400" dirty="0">
                          <a:solidFill>
                            <a:srgbClr val="1D4ED8"/>
                          </a:solidFill>
                          <a:latin typeface="IBM Plex Sans" pitchFamily="34" charset="0"/>
                          <a:ea typeface="IBM Plex Sans" pitchFamily="34" charset="-122"/>
                          <a:cs typeface="IBM Plex Sans" pitchFamily="34" charset="-120"/>
                        </a:rPr>
                        <a:t>Approved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8B3A8"/>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c>
                  <a:txBody>
                    <a:bodyPr/>
                    <a:lstStyle/>
                    <a:p>
                      <a:pPr indent="0" marL="0">
                        <a:lnSpc>
                          <a:spcPts val="1960"/>
                        </a:lnSpc>
                        <a:buNone/>
                      </a:pPr>
                      <a:r>
                        <a:rPr lang="en-US" sz="1400" dirty="0">
                          <a:solidFill>
                            <a:srgbClr val="0E1A2B"/>
                          </a:solidFill>
                          <a:latin typeface="IBM Plex Sans" pitchFamily="34" charset="0"/>
                          <a:ea typeface="IBM Plex Sans" pitchFamily="34" charset="-122"/>
                          <a:cs typeface="IBM Plex Sans" pitchFamily="34" charset="-120"/>
                        </a:rPr>
                        <a:t>Recognised as matching.</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8B3A8"/>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r>
              <a:tr h="384616">
                <a:tc>
                  <a:txBody>
                    <a:bodyPr/>
                    <a:lstStyle/>
                    <a:p>
                      <a:pPr indent="0" marL="0">
                        <a:lnSpc>
                          <a:spcPts val="1960"/>
                        </a:lnSpc>
                        <a:buNone/>
                      </a:pPr>
                      <a:r>
                        <a:rPr lang="en-US" sz="1400" dirty="0">
                          <a:solidFill>
                            <a:srgbClr val="0E1A2B"/>
                          </a:solidFill>
                          <a:latin typeface="IBM Plex Sans" pitchFamily="34" charset="0"/>
                          <a:ea typeface="IBM Plex Sans" pitchFamily="34" charset="-122"/>
                          <a:cs typeface="IBM Plex Sans" pitchFamily="34" charset="-120"/>
                        </a:rPr>
                        <a:t>Three prices in one answer, one of them wrong</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c>
                  <a:txBody>
                    <a:bodyPr/>
                    <a:lstStyle/>
                    <a:p>
                      <a:pPr indent="0" marL="0">
                        <a:lnSpc>
                          <a:spcPts val="1960"/>
                        </a:lnSpc>
                        <a:buNone/>
                      </a:pPr>
                      <a:r>
                        <a:rPr lang="en-US" sz="1400" dirty="0">
                          <a:solidFill>
                            <a:srgbClr val="C2410C"/>
                          </a:solidFill>
                          <a:latin typeface="IBM Plex Sans" pitchFamily="34" charset="0"/>
                          <a:ea typeface="IBM Plex Sans" pitchFamily="34" charset="-122"/>
                          <a:cs typeface="IBM Plex Sans" pitchFamily="34" charset="-120"/>
                        </a:rPr>
                        <a:t>Rejected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c>
                  <a:txBody>
                    <a:bodyPr/>
                    <a:lstStyle/>
                    <a:p>
                      <a:pPr indent="0" marL="0">
                        <a:lnSpc>
                          <a:spcPts val="1960"/>
                        </a:lnSpc>
                        <a:buNone/>
                      </a:pPr>
                      <a:r>
                        <a:rPr lang="en-US" sz="1400" dirty="0">
                          <a:solidFill>
                            <a:srgbClr val="0E1A2B"/>
                          </a:solidFill>
                          <a:latin typeface="IBM Plex Sans" pitchFamily="34" charset="0"/>
                          <a:ea typeface="IBM Plex Sans" pitchFamily="34" charset="-122"/>
                          <a:cs typeface="IBM Plex Sans" pitchFamily="34" charset="-120"/>
                        </a:rPr>
                        <a:t>Only the wrong price is flagged.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r>
              <a:tr h="633501">
                <a:tc>
                  <a:txBody>
                    <a:bodyPr/>
                    <a:lstStyle/>
                    <a:p>
                      <a:pPr indent="0" marL="0">
                        <a:lnSpc>
                          <a:spcPts val="1960"/>
                        </a:lnSpc>
                        <a:buNone/>
                      </a:pPr>
                      <a:r>
                        <a:rPr lang="en-US" sz="1400" dirty="0">
                          <a:solidFill>
                            <a:srgbClr val="0E1A2B"/>
                          </a:solidFill>
                          <a:latin typeface="IBM Plex Sans" pitchFamily="34" charset="0"/>
                          <a:ea typeface="IBM Plex Sans" pitchFamily="34" charset="-122"/>
                          <a:cs typeface="IBM Plex Sans" pitchFamily="34" charset="-120"/>
                        </a:rPr>
                        <a:t>Allowed link with a trailing slash or different capitalisation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c>
                  <a:txBody>
                    <a:bodyPr/>
                    <a:lstStyle/>
                    <a:p>
                      <a:pPr indent="0" marL="0">
                        <a:lnSpc>
                          <a:spcPts val="1960"/>
                        </a:lnSpc>
                        <a:buNone/>
                      </a:pPr>
                      <a:r>
                        <a:rPr lang="en-US" sz="1400" dirty="0">
                          <a:solidFill>
                            <a:srgbClr val="1D4ED8"/>
                          </a:solidFill>
                          <a:latin typeface="IBM Plex Sans" pitchFamily="34" charset="0"/>
                          <a:ea typeface="IBM Plex Sans" pitchFamily="34" charset="-122"/>
                          <a:cs typeface="IBM Plex Sans" pitchFamily="34" charset="-120"/>
                        </a:rPr>
                        <a:t>Approved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c>
                  <a:txBody>
                    <a:bodyPr/>
                    <a:lstStyle/>
                    <a:p>
                      <a:pPr indent="0" marL="0">
                        <a:lnSpc>
                          <a:spcPts val="1960"/>
                        </a:lnSpc>
                        <a:buNone/>
                      </a:pPr>
                      <a:r>
                        <a:rPr lang="en-US" sz="1400" dirty="0">
                          <a:solidFill>
                            <a:srgbClr val="0E1A2B"/>
                          </a:solidFill>
                          <a:latin typeface="IBM Plex Sans" pitchFamily="34" charset="0"/>
                          <a:ea typeface="IBM Plex Sans" pitchFamily="34" charset="-122"/>
                          <a:cs typeface="IBM Plex Sans" pitchFamily="34" charset="-120"/>
                        </a:rPr>
                        <a:t>Treated as allowed.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r>
              <a:tr h="633501">
                <a:tc>
                  <a:txBody>
                    <a:bodyPr/>
                    <a:lstStyle/>
                    <a:p>
                      <a:pPr indent="0" marL="0">
                        <a:lnSpc>
                          <a:spcPts val="1960"/>
                        </a:lnSpc>
                        <a:buNone/>
                      </a:pPr>
                      <a:r>
                        <a:rPr lang="en-US" sz="1400" dirty="0">
                          <a:solidFill>
                            <a:srgbClr val="0E1A2B"/>
                          </a:solidFill>
                          <a:latin typeface="IBM Plex Sans" pitchFamily="34" charset="0"/>
                          <a:ea typeface="IBM Plex Sans" pitchFamily="34" charset="-122"/>
                          <a:cs typeface="IBM Plex Sans" pitchFamily="34" charset="-120"/>
                        </a:rPr>
                        <a:t>Price edited in the rules, old answer re-checked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c>
                  <a:txBody>
                    <a:bodyPr/>
                    <a:lstStyle/>
                    <a:p>
                      <a:pPr indent="0" marL="0">
                        <a:lnSpc>
                          <a:spcPts val="1960"/>
                        </a:lnSpc>
                        <a:buNone/>
                      </a:pPr>
                      <a:r>
                        <a:rPr lang="en-US" sz="1400" dirty="0">
                          <a:solidFill>
                            <a:srgbClr val="0E1A2B"/>
                          </a:solidFill>
                          <a:latin typeface="IBM Plex Sans" pitchFamily="34" charset="0"/>
                          <a:ea typeface="IBM Plex Sans" pitchFamily="34" charset="-122"/>
                          <a:cs typeface="IBM Plex Sans" pitchFamily="34" charset="-120"/>
                        </a:rPr>
                        <a:t>Changes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c>
                  <a:txBody>
                    <a:bodyPr/>
                    <a:lstStyle/>
                    <a:p>
                      <a:pPr indent="0" marL="0">
                        <a:lnSpc>
                          <a:spcPts val="1960"/>
                        </a:lnSpc>
                        <a:buNone/>
                      </a:pPr>
                      <a:r>
                        <a:rPr lang="en-US" sz="1400" dirty="0">
                          <a:solidFill>
                            <a:srgbClr val="0E1A2B"/>
                          </a:solidFill>
                          <a:latin typeface="IBM Plex Sans" pitchFamily="34" charset="0"/>
                          <a:ea typeface="IBM Plex Sans" pitchFamily="34" charset="-122"/>
                          <a:cs typeface="IBM Plex Sans" pitchFamily="34" charset="-120"/>
                        </a:rPr>
                        <a:t>The audit log shows the new rule version. Shown on the next slide.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r>
            </a:tbl>
          </a:graphicData>
        </a:graphic>
      </p:graphicFrame>
      <p:sp>
        <p:nvSpPr>
          <p:cNvPr id="6" name="Text 3"/>
          <p:cNvSpPr/>
          <p:nvPr/>
        </p:nvSpPr>
        <p:spPr>
          <a:xfrm>
            <a:off x="812800" y="6238258"/>
            <a:ext cx="10883392"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676"/>
                </a:solidFill>
                <a:latin typeface="JetBrains Mono" pitchFamily="49" charset="0"/>
                <a:ea typeface="JetBrains Mono" pitchFamily="49" charset="-122"/>
                <a:cs typeface="JetBrains Mono" pitchFamily="49" charset="-120"/>
              </a:rPr>
              <a:t>POC-11 · Compliance Firewall · 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9E4D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42"/>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C2410C"/>
                </a:solidFill>
                <a:latin typeface="JetBrains Mono" pitchFamily="49" charset="0"/>
                <a:ea typeface="JetBrains Mono" pitchFamily="49" charset="-122"/>
                <a:cs typeface="JetBrains Mono" pitchFamily="49" charset="-120"/>
              </a:rPr>
              <a:t>LIVE DEMO · RULE EDIT</a:t>
            </a:r>
            <a:endParaRPr lang="en-US" sz="1200" dirty="0"/>
          </a:p>
        </p:txBody>
      </p:sp>
      <p:sp>
        <p:nvSpPr>
          <p:cNvPr id="3" name="Text 1"/>
          <p:cNvSpPr/>
          <p:nvPr>
            <p:ph type="title"/>
          </p:nvPr>
        </p:nvSpPr>
        <p:spPr>
          <a:xfrm>
            <a:off x="812800" y="1127742"/>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E1A2B"/>
                </a:solidFill>
                <a:latin typeface="IBM Plex Sans" pitchFamily="34" charset="0"/>
                <a:ea typeface="IBM Plex Sans" pitchFamily="34" charset="-122"/>
                <a:cs typeface="IBM Plex Sans" pitchFamily="34" charset="-120"/>
              </a:rPr>
              <a:t>A price edit, live</a:t>
            </a:r>
            <a:endParaRPr lang="en-US" sz="3200" dirty="0"/>
          </a:p>
        </p:txBody>
      </p:sp>
      <p:sp>
        <p:nvSpPr>
          <p:cNvPr id="4" name="Shape 2"/>
          <p:cNvSpPr/>
          <p:nvPr/>
        </p:nvSpPr>
        <p:spPr>
          <a:xfrm>
            <a:off x="815975" y="1882732"/>
            <a:ext cx="2523772" cy="1874308"/>
          </a:xfrm>
          <a:prstGeom prst="roundRect">
            <a:avLst>
              <a:gd name="adj" fmla="val 3896"/>
            </a:avLst>
          </a:prstGeom>
          <a:solidFill>
            <a:srgbClr val="FCFBF7"/>
          </a:solidFill>
          <a:ln w="6350">
            <a:solidFill>
              <a:srgbClr val="D9D2C1"/>
            </a:solidFill>
            <a:prstDash val="solid"/>
          </a:ln>
        </p:spPr>
      </p:sp>
      <p:sp>
        <p:nvSpPr>
          <p:cNvPr id="5" name="Text 3"/>
          <p:cNvSpPr/>
          <p:nvPr/>
        </p:nvSpPr>
        <p:spPr>
          <a:xfrm>
            <a:off x="1047044" y="2113800"/>
            <a:ext cx="2123482"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C2410C"/>
                </a:solidFill>
                <a:latin typeface="JetBrains Mono" pitchFamily="49" charset="0"/>
                <a:ea typeface="JetBrains Mono" pitchFamily="49" charset="-122"/>
                <a:cs typeface="JetBrains Mono" pitchFamily="49" charset="-120"/>
              </a:rPr>
              <a:t>1</a:t>
            </a:r>
            <a:endParaRPr lang="en-US" sz="2000" dirty="0"/>
          </a:p>
        </p:txBody>
      </p:sp>
      <p:sp>
        <p:nvSpPr>
          <p:cNvPr id="6" name="Text 4"/>
          <p:cNvSpPr/>
          <p:nvPr/>
        </p:nvSpPr>
        <p:spPr>
          <a:xfrm>
            <a:off x="1047044" y="2571000"/>
            <a:ext cx="2123482" cy="238742"/>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E1A2B"/>
                </a:solidFill>
                <a:latin typeface="IBM Plex Sans" pitchFamily="34" charset="0"/>
                <a:ea typeface="IBM Plex Sans" pitchFamily="34" charset="-122"/>
                <a:cs typeface="IBM Plex Sans" pitchFamily="34" charset="-120"/>
              </a:rPr>
              <a:t>Edit the rule</a:t>
            </a:r>
            <a:endParaRPr lang="en-US" sz="1400" dirty="0"/>
          </a:p>
        </p:txBody>
      </p:sp>
      <p:sp>
        <p:nvSpPr>
          <p:cNvPr id="7" name="Text 5"/>
          <p:cNvSpPr/>
          <p:nvPr/>
        </p:nvSpPr>
        <p:spPr>
          <a:xfrm>
            <a:off x="1047044" y="2885942"/>
            <a:ext cx="2123482" cy="45208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4858"/>
                </a:solidFill>
                <a:latin typeface="IBM Plex Sans" pitchFamily="34" charset="0"/>
                <a:ea typeface="IBM Plex Sans" pitchFamily="34" charset="-122"/>
                <a:cs typeface="IBM Plex Sans" pitchFamily="34" charset="-120"/>
              </a:rPr>
              <a:t>Trusted rules page: change the Pro price in the form</a:t>
            </a:r>
            <a:endParaRPr lang="en-US" sz="1200" dirty="0"/>
          </a:p>
        </p:txBody>
      </p:sp>
      <p:sp>
        <p:nvSpPr>
          <p:cNvPr id="8" name="Shape 6"/>
          <p:cNvSpPr/>
          <p:nvPr/>
        </p:nvSpPr>
        <p:spPr>
          <a:xfrm>
            <a:off x="3498497" y="1882732"/>
            <a:ext cx="2523772" cy="1874308"/>
          </a:xfrm>
          <a:prstGeom prst="roundRect">
            <a:avLst>
              <a:gd name="adj" fmla="val 3896"/>
            </a:avLst>
          </a:prstGeom>
          <a:solidFill>
            <a:srgbClr val="FCFBF7"/>
          </a:solidFill>
          <a:ln w="6350">
            <a:solidFill>
              <a:srgbClr val="D9D2C1"/>
            </a:solidFill>
            <a:prstDash val="solid"/>
          </a:ln>
        </p:spPr>
      </p:sp>
      <p:sp>
        <p:nvSpPr>
          <p:cNvPr id="9" name="Text 7"/>
          <p:cNvSpPr/>
          <p:nvPr/>
        </p:nvSpPr>
        <p:spPr>
          <a:xfrm>
            <a:off x="3729567" y="2113800"/>
            <a:ext cx="2123482"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C2410C"/>
                </a:solidFill>
                <a:latin typeface="JetBrains Mono" pitchFamily="49" charset="0"/>
                <a:ea typeface="JetBrains Mono" pitchFamily="49" charset="-122"/>
                <a:cs typeface="JetBrains Mono" pitchFamily="49" charset="-120"/>
              </a:rPr>
              <a:t>2</a:t>
            </a:r>
            <a:endParaRPr lang="en-US" sz="2000" dirty="0"/>
          </a:p>
        </p:txBody>
      </p:sp>
      <p:sp>
        <p:nvSpPr>
          <p:cNvPr id="10" name="Text 8"/>
          <p:cNvSpPr/>
          <p:nvPr/>
        </p:nvSpPr>
        <p:spPr>
          <a:xfrm>
            <a:off x="3729567" y="2571000"/>
            <a:ext cx="2123482" cy="238742"/>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E1A2B"/>
                </a:solidFill>
                <a:latin typeface="IBM Plex Sans" pitchFamily="34" charset="0"/>
                <a:ea typeface="IBM Plex Sans" pitchFamily="34" charset="-122"/>
                <a:cs typeface="IBM Plex Sans" pitchFamily="34" charset="-120"/>
              </a:rPr>
              <a:t>Save</a:t>
            </a:r>
            <a:endParaRPr lang="en-US" sz="1400" dirty="0"/>
          </a:p>
        </p:txBody>
      </p:sp>
      <p:sp>
        <p:nvSpPr>
          <p:cNvPr id="11" name="Text 9"/>
          <p:cNvSpPr/>
          <p:nvPr/>
        </p:nvSpPr>
        <p:spPr>
          <a:xfrm>
            <a:off x="3729567" y="2885942"/>
            <a:ext cx="2123482" cy="45208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4858"/>
                </a:solidFill>
                <a:latin typeface="IBM Plex Sans" pitchFamily="34" charset="0"/>
                <a:ea typeface="IBM Plex Sans" pitchFamily="34" charset="-122"/>
                <a:cs typeface="IBM Plex Sans" pitchFamily="34" charset="-120"/>
              </a:rPr>
              <a:t>A new rule version is created. Old versions never change</a:t>
            </a:r>
            <a:endParaRPr lang="en-US" sz="1200" dirty="0"/>
          </a:p>
        </p:txBody>
      </p:sp>
      <p:sp>
        <p:nvSpPr>
          <p:cNvPr id="12" name="Shape 10"/>
          <p:cNvSpPr/>
          <p:nvPr/>
        </p:nvSpPr>
        <p:spPr>
          <a:xfrm>
            <a:off x="6181020" y="1882732"/>
            <a:ext cx="2523772" cy="1874308"/>
          </a:xfrm>
          <a:prstGeom prst="roundRect">
            <a:avLst>
              <a:gd name="adj" fmla="val 3896"/>
            </a:avLst>
          </a:prstGeom>
          <a:solidFill>
            <a:srgbClr val="FCFBF7"/>
          </a:solidFill>
          <a:ln w="6350">
            <a:solidFill>
              <a:srgbClr val="D9D2C1"/>
            </a:solidFill>
            <a:prstDash val="solid"/>
          </a:ln>
        </p:spPr>
      </p:sp>
      <p:sp>
        <p:nvSpPr>
          <p:cNvPr id="13" name="Text 11"/>
          <p:cNvSpPr/>
          <p:nvPr/>
        </p:nvSpPr>
        <p:spPr>
          <a:xfrm>
            <a:off x="6412089" y="2113800"/>
            <a:ext cx="2123482"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C2410C"/>
                </a:solidFill>
                <a:latin typeface="JetBrains Mono" pitchFamily="49" charset="0"/>
                <a:ea typeface="JetBrains Mono" pitchFamily="49" charset="-122"/>
                <a:cs typeface="JetBrains Mono" pitchFamily="49" charset="-120"/>
              </a:rPr>
              <a:t>3</a:t>
            </a:r>
            <a:endParaRPr lang="en-US" sz="2000" dirty="0"/>
          </a:p>
        </p:txBody>
      </p:sp>
      <p:sp>
        <p:nvSpPr>
          <p:cNvPr id="14" name="Text 12"/>
          <p:cNvSpPr/>
          <p:nvPr/>
        </p:nvSpPr>
        <p:spPr>
          <a:xfrm>
            <a:off x="6412089" y="2571000"/>
            <a:ext cx="2123482" cy="238742"/>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E1A2B"/>
                </a:solidFill>
                <a:latin typeface="IBM Plex Sans" pitchFamily="34" charset="0"/>
                <a:ea typeface="IBM Plex Sans" pitchFamily="34" charset="-122"/>
                <a:cs typeface="IBM Plex Sans" pitchFamily="34" charset="-120"/>
              </a:rPr>
              <a:t>Re-check</a:t>
            </a:r>
            <a:endParaRPr lang="en-US" sz="1400" dirty="0"/>
          </a:p>
        </p:txBody>
      </p:sp>
      <p:sp>
        <p:nvSpPr>
          <p:cNvPr id="15" name="Text 13"/>
          <p:cNvSpPr/>
          <p:nvPr/>
        </p:nvSpPr>
        <p:spPr>
          <a:xfrm>
            <a:off x="6412089" y="2885942"/>
            <a:ext cx="2123482" cy="66542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4858"/>
                </a:solidFill>
                <a:latin typeface="IBM Plex Sans" pitchFamily="34" charset="0"/>
                <a:ea typeface="IBM Plex Sans" pitchFamily="34" charset="-122"/>
                <a:cs typeface="IBM Plex Sans" pitchFamily="34" charset="-120"/>
              </a:rPr>
              <a:t>Audit log: open an old answer and re-check it on the latest rules</a:t>
            </a:r>
            <a:endParaRPr lang="en-US" sz="1200" dirty="0"/>
          </a:p>
        </p:txBody>
      </p:sp>
      <p:sp>
        <p:nvSpPr>
          <p:cNvPr id="16" name="Shape 14"/>
          <p:cNvSpPr/>
          <p:nvPr/>
        </p:nvSpPr>
        <p:spPr>
          <a:xfrm>
            <a:off x="8860367" y="1879557"/>
            <a:ext cx="2518833" cy="1880658"/>
          </a:xfrm>
          <a:prstGeom prst="roundRect">
            <a:avLst>
              <a:gd name="adj" fmla="val 4052"/>
            </a:avLst>
          </a:prstGeom>
          <a:solidFill>
            <a:srgbClr val="0E1A2B"/>
          </a:solidFill>
          <a:ln/>
        </p:spPr>
      </p:sp>
      <p:sp>
        <p:nvSpPr>
          <p:cNvPr id="17" name="Text 15"/>
          <p:cNvSpPr/>
          <p:nvPr/>
        </p:nvSpPr>
        <p:spPr>
          <a:xfrm>
            <a:off x="9088967" y="2108157"/>
            <a:ext cx="2123482"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F4A774"/>
                </a:solidFill>
                <a:latin typeface="JetBrains Mono" pitchFamily="49" charset="0"/>
                <a:ea typeface="JetBrains Mono" pitchFamily="49" charset="-122"/>
                <a:cs typeface="JetBrains Mono" pitchFamily="49" charset="-120"/>
              </a:rPr>
              <a:t>4</a:t>
            </a:r>
            <a:endParaRPr lang="en-US" sz="2000" dirty="0"/>
          </a:p>
        </p:txBody>
      </p:sp>
      <p:sp>
        <p:nvSpPr>
          <p:cNvPr id="18" name="Text 16"/>
          <p:cNvSpPr/>
          <p:nvPr/>
        </p:nvSpPr>
        <p:spPr>
          <a:xfrm>
            <a:off x="9088967" y="2565357"/>
            <a:ext cx="2123482" cy="238742"/>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4F1EA"/>
                </a:solidFill>
                <a:latin typeface="IBM Plex Sans" pitchFamily="34" charset="0"/>
                <a:ea typeface="IBM Plex Sans" pitchFamily="34" charset="-122"/>
                <a:cs typeface="IBM Plex Sans" pitchFamily="34" charset="-120"/>
              </a:rPr>
              <a:t>Decision changes</a:t>
            </a:r>
            <a:endParaRPr lang="en-US" sz="1400" dirty="0"/>
          </a:p>
        </p:txBody>
      </p:sp>
      <p:sp>
        <p:nvSpPr>
          <p:cNvPr id="19" name="Text 17"/>
          <p:cNvSpPr/>
          <p:nvPr/>
        </p:nvSpPr>
        <p:spPr>
          <a:xfrm>
            <a:off x="9088967" y="2880299"/>
            <a:ext cx="2123482" cy="45208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6C8"/>
                </a:solidFill>
                <a:latin typeface="IBM Plex Sans" pitchFamily="34" charset="0"/>
                <a:ea typeface="IBM Plex Sans" pitchFamily="34" charset="-122"/>
                <a:cs typeface="IBM Plex Sans" pitchFamily="34" charset="-120"/>
              </a:rPr>
              <a:t>The audit log shows the new rule version next to it</a:t>
            </a:r>
            <a:endParaRPr lang="en-US" sz="1200" dirty="0"/>
          </a:p>
        </p:txBody>
      </p:sp>
      <p:sp>
        <p:nvSpPr>
          <p:cNvPr id="20" name="Text 18"/>
          <p:cNvSpPr/>
          <p:nvPr/>
        </p:nvSpPr>
        <p:spPr>
          <a:xfrm>
            <a:off x="812800" y="4065014"/>
            <a:ext cx="10883392" cy="27428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C4858"/>
                </a:solidFill>
                <a:latin typeface="IBM Plex Sans" pitchFamily="34" charset="0"/>
                <a:ea typeface="IBM Plex Sans" pitchFamily="34" charset="-122"/>
                <a:cs typeface="IBM Plex Sans" pitchFamily="34" charset="-120"/>
              </a:rPr>
              <a:t>No code change and no restart: the rules cache reloads when the version number changes.</a:t>
            </a:r>
            <a:endParaRPr lang="en-US" sz="1400" dirty="0"/>
          </a:p>
        </p:txBody>
      </p:sp>
      <p:sp>
        <p:nvSpPr>
          <p:cNvPr id="21" name="Text 19"/>
          <p:cNvSpPr/>
          <p:nvPr/>
        </p:nvSpPr>
        <p:spPr>
          <a:xfrm>
            <a:off x="812800" y="6238258"/>
            <a:ext cx="10883392"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676"/>
                </a:solidFill>
                <a:latin typeface="JetBrains Mono" pitchFamily="49" charset="0"/>
                <a:ea typeface="JetBrains Mono" pitchFamily="49" charset="-122"/>
                <a:cs typeface="JetBrains Mono" pitchFamily="49" charset="-120"/>
              </a:rPr>
              <a:t>POC-11 · Compliance Firewall · 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42"/>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C2410C"/>
                </a:solidFill>
                <a:latin typeface="JetBrains Mono" pitchFamily="49" charset="0"/>
                <a:ea typeface="JetBrains Mono" pitchFamily="49" charset="-122"/>
                <a:cs typeface="JetBrains Mono" pitchFamily="49" charset="-120"/>
              </a:rPr>
              <a:t>LIVE DEMO · 3 OF 3</a:t>
            </a:r>
            <a:endParaRPr lang="en-US" sz="1200" dirty="0"/>
          </a:p>
        </p:txBody>
      </p:sp>
      <p:sp>
        <p:nvSpPr>
          <p:cNvPr id="3" name="Text 1"/>
          <p:cNvSpPr/>
          <p:nvPr>
            <p:ph type="title"/>
          </p:nvPr>
        </p:nvSpPr>
        <p:spPr>
          <a:xfrm>
            <a:off x="812800" y="1127742"/>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E1A2B"/>
                </a:solidFill>
                <a:latin typeface="IBM Plex Sans" pitchFamily="34" charset="0"/>
                <a:ea typeface="IBM Plex Sans" pitchFamily="34" charset="-122"/>
                <a:cs typeface="IBM Plex Sans" pitchFamily="34" charset="-120"/>
              </a:rPr>
              <a:t>Bad and abuse cases</a:t>
            </a:r>
            <a:endParaRPr lang="en-US" sz="3200" dirty="0"/>
          </a:p>
        </p:txBody>
      </p:sp>
      <p:sp>
        <p:nvSpPr>
          <p:cNvPr id="4" name="Shape 2"/>
          <p:cNvSpPr/>
          <p:nvPr/>
        </p:nvSpPr>
        <p:spPr>
          <a:xfrm>
            <a:off x="812800" y="1828757"/>
            <a:ext cx="10566400" cy="2816754"/>
          </a:xfrm>
          <a:prstGeom prst="rect">
            <a:avLst/>
          </a:prstGeom>
          <a:solidFill>
            <a:srgbClr val="FCFBF7"/>
          </a:solidFill>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4089" y="1840045"/>
          <a:ext cx="10555111" cy="2805465"/>
        </p:xfrm>
        <a:graphic>
          <a:graphicData uri="http://schemas.openxmlformats.org/drawingml/2006/table">
            <a:tbl>
              <a:tblPr/>
              <a:tblGrid>
                <a:gridCol w="4433147"/>
                <a:gridCol w="1477716"/>
                <a:gridCol w="4644249"/>
              </a:tblGrid>
              <a:tr h="384616">
                <a:tc>
                  <a:txBody>
                    <a:bodyPr/>
                    <a:lstStyle/>
                    <a:p>
                      <a:pPr indent="0" marL="0">
                        <a:lnSpc>
                          <a:spcPts val="1960"/>
                        </a:lnSpc>
                        <a:buNone/>
                      </a:pPr>
                      <a:r>
                        <a:rPr lang="en-US" sz="1400" b="1" dirty="0">
                          <a:solidFill>
                            <a:srgbClr val="0E1A2B"/>
                          </a:solidFill>
                          <a:latin typeface="IBM Plex Sans" pitchFamily="34" charset="0"/>
                          <a:ea typeface="IBM Plex Sans" pitchFamily="34" charset="-122"/>
                          <a:cs typeface="IBM Plex Sans" pitchFamily="34" charset="-120"/>
                        </a:rPr>
                        <a:t>Scenario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B8B3A8"/>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8B3A8"/>
                      </a:solidFill>
                      <a:prstDash val="solid"/>
                      <a:round/>
                      <a:headEnd type="none" w="med" len="med"/>
                      <a:tailEnd type="none" w="med" len="med"/>
                    </a:lnB>
                    <a:solidFill>
                      <a:srgbClr val="E6E0D2"/>
                    </a:solidFill>
                  </a:tcPr>
                </a:tc>
                <a:tc>
                  <a:txBody>
                    <a:bodyPr/>
                    <a:lstStyle/>
                    <a:p>
                      <a:pPr indent="0" marL="0">
                        <a:lnSpc>
                          <a:spcPts val="1960"/>
                        </a:lnSpc>
                        <a:buNone/>
                      </a:pPr>
                      <a:r>
                        <a:rPr lang="en-US" sz="1400" b="1" dirty="0">
                          <a:solidFill>
                            <a:srgbClr val="0E1A2B"/>
                          </a:solidFill>
                          <a:latin typeface="IBM Plex Sans" pitchFamily="34" charset="0"/>
                          <a:ea typeface="IBM Plex Sans" pitchFamily="34" charset="-122"/>
                          <a:cs typeface="IBM Plex Sans" pitchFamily="34" charset="-120"/>
                        </a:rPr>
                        <a:t>Decision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8B3A8"/>
                      </a:solidFill>
                      <a:prstDash val="solid"/>
                      <a:round/>
                      <a:headEnd type="none" w="med" len="med"/>
                      <a:tailEnd type="none" w="med" len="med"/>
                    </a:lnL>
                    <a:lnR w="12700" cap="flat" cmpd="sng" algn="ctr">
                      <a:solidFill>
                        <a:srgbClr val="B8B3A8"/>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8B3A8"/>
                      </a:solidFill>
                      <a:prstDash val="solid"/>
                      <a:round/>
                      <a:headEnd type="none" w="med" len="med"/>
                      <a:tailEnd type="none" w="med" len="med"/>
                    </a:lnB>
                    <a:solidFill>
                      <a:srgbClr val="E6E0D2"/>
                    </a:solidFill>
                  </a:tcPr>
                </a:tc>
                <a:tc>
                  <a:txBody>
                    <a:bodyPr/>
                    <a:lstStyle/>
                    <a:p>
                      <a:pPr indent="0" marL="0">
                        <a:lnSpc>
                          <a:spcPts val="1960"/>
                        </a:lnSpc>
                        <a:buNone/>
                      </a:pPr>
                      <a:r>
                        <a:rPr lang="en-US" sz="1400" b="1" dirty="0">
                          <a:solidFill>
                            <a:srgbClr val="0E1A2B"/>
                          </a:solidFill>
                          <a:latin typeface="IBM Plex Sans" pitchFamily="34" charset="0"/>
                          <a:ea typeface="IBM Plex Sans" pitchFamily="34" charset="-122"/>
                          <a:cs typeface="IBM Plex Sans" pitchFamily="34" charset="-120"/>
                        </a:rPr>
                        <a:t>Expected result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8B3A8"/>
                      </a:solidFill>
                      <a:prstDash val="solid"/>
                      <a:round/>
                      <a:headEnd type="none" w="med" len="med"/>
                      <a:tailEnd type="none" w="med" len="med"/>
                    </a:lnL>
                    <a:lnR w="12700" cap="flat" cmpd="sng" algn="ctr">
                      <a:solidFill>
                        <a:srgbClr val="B8B3A8"/>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8B3A8"/>
                      </a:solidFill>
                      <a:prstDash val="solid"/>
                      <a:round/>
                      <a:headEnd type="none" w="med" len="med"/>
                      <a:tailEnd type="none" w="med" len="med"/>
                    </a:lnB>
                    <a:solidFill>
                      <a:srgbClr val="E6E0D2"/>
                    </a:solidFill>
                  </a:tcPr>
                </a:tc>
              </a:tr>
              <a:tr h="633501">
                <a:tc>
                  <a:txBody>
                    <a:bodyPr/>
                    <a:lstStyle/>
                    <a:p>
                      <a:pPr indent="0" marL="0">
                        <a:lnSpc>
                          <a:spcPts val="1960"/>
                        </a:lnSpc>
                        <a:buNone/>
                      </a:pPr>
                      <a:r>
                        <a:rPr lang="en-US" sz="1400" dirty="0">
                          <a:solidFill>
                            <a:srgbClr val="0E1A2B"/>
                          </a:solidFill>
                          <a:latin typeface="IBM Plex Sans" pitchFamily="34" charset="0"/>
                          <a:ea typeface="IBM Plex Sans" pitchFamily="34" charset="-122"/>
                          <a:cs typeface="IBM Plex Sans" pitchFamily="34" charset="-120"/>
                        </a:rPr>
                        <a:t>Answer says Pro is $59 when the rule says $49</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8B3A8"/>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c>
                  <a:txBody>
                    <a:bodyPr/>
                    <a:lstStyle/>
                    <a:p>
                      <a:pPr indent="0" marL="0">
                        <a:lnSpc>
                          <a:spcPts val="1960"/>
                        </a:lnSpc>
                        <a:buNone/>
                      </a:pPr>
                      <a:r>
                        <a:rPr lang="en-US" sz="1400" dirty="0">
                          <a:solidFill>
                            <a:srgbClr val="C2410C"/>
                          </a:solidFill>
                          <a:latin typeface="IBM Plex Sans" pitchFamily="34" charset="0"/>
                          <a:ea typeface="IBM Plex Sans" pitchFamily="34" charset="-122"/>
                          <a:cs typeface="IBM Plex Sans" pitchFamily="34" charset="-120"/>
                        </a:rPr>
                        <a:t>Rejected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8B3A8"/>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c>
                  <a:txBody>
                    <a:bodyPr/>
                    <a:lstStyle/>
                    <a:p>
                      <a:pPr indent="0" marL="0">
                        <a:lnSpc>
                          <a:spcPts val="1960"/>
                        </a:lnSpc>
                        <a:buNone/>
                      </a:pPr>
                      <a:r>
                        <a:rPr lang="en-US" sz="1400" dirty="0">
                          <a:solidFill>
                            <a:srgbClr val="0E1A2B"/>
                          </a:solidFill>
                          <a:latin typeface="IBM Plex Sans" pitchFamily="34" charset="0"/>
                          <a:ea typeface="IBM Plex Sans" pitchFamily="34" charset="-122"/>
                          <a:cs typeface="IBM Plex Sans" pitchFamily="34" charset="-120"/>
                        </a:rPr>
                        <a:t>Safe pricing message. Compliance sees “price mismatch”.</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8B3A8"/>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r>
              <a:tr h="384616">
                <a:tc>
                  <a:txBody>
                    <a:bodyPr/>
                    <a:lstStyle/>
                    <a:p>
                      <a:pPr indent="0" marL="0">
                        <a:lnSpc>
                          <a:spcPts val="1960"/>
                        </a:lnSpc>
                        <a:buNone/>
                      </a:pPr>
                      <a:r>
                        <a:rPr lang="en-US" sz="1400" dirty="0">
                          <a:solidFill>
                            <a:srgbClr val="0E1A2B"/>
                          </a:solidFill>
                          <a:latin typeface="IBM Plex Sans" pitchFamily="34" charset="0"/>
                          <a:ea typeface="IBM Plex Sans" pitchFamily="34" charset="-122"/>
                          <a:cs typeface="IBM Plex Sans" pitchFamily="34" charset="-120"/>
                        </a:rPr>
                        <a:t>Answer contains a link not on the allowed list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c>
                  <a:txBody>
                    <a:bodyPr/>
                    <a:lstStyle/>
                    <a:p>
                      <a:pPr indent="0" marL="0">
                        <a:lnSpc>
                          <a:spcPts val="1960"/>
                        </a:lnSpc>
                        <a:buNone/>
                      </a:pPr>
                      <a:r>
                        <a:rPr lang="en-US" sz="1400" dirty="0">
                          <a:solidFill>
                            <a:srgbClr val="C2410C"/>
                          </a:solidFill>
                          <a:latin typeface="IBM Plex Sans" pitchFamily="34" charset="0"/>
                          <a:ea typeface="IBM Plex Sans" pitchFamily="34" charset="-122"/>
                          <a:cs typeface="IBM Plex Sans" pitchFamily="34" charset="-120"/>
                        </a:rPr>
                        <a:t>Rejected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c>
                  <a:txBody>
                    <a:bodyPr/>
                    <a:lstStyle/>
                    <a:p>
                      <a:pPr indent="0" marL="0">
                        <a:lnSpc>
                          <a:spcPts val="1960"/>
                        </a:lnSpc>
                        <a:buNone/>
                      </a:pPr>
                      <a:r>
                        <a:rPr lang="en-US" sz="1400" dirty="0">
                          <a:solidFill>
                            <a:srgbClr val="0E1A2B"/>
                          </a:solidFill>
                          <a:latin typeface="IBM Plex Sans" pitchFamily="34" charset="0"/>
                          <a:ea typeface="IBM Plex Sans" pitchFamily="34" charset="-122"/>
                          <a:cs typeface="IBM Plex Sans" pitchFamily="34" charset="-120"/>
                        </a:rPr>
                        <a:t>Compliance sees “unapproved link”.</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r>
              <a:tr h="384616">
                <a:tc>
                  <a:txBody>
                    <a:bodyPr/>
                    <a:lstStyle/>
                    <a:p>
                      <a:pPr indent="0" marL="0">
                        <a:lnSpc>
                          <a:spcPts val="1960"/>
                        </a:lnSpc>
                        <a:buNone/>
                      </a:pPr>
                      <a:r>
                        <a:rPr lang="en-US" sz="1400" dirty="0">
                          <a:solidFill>
                            <a:srgbClr val="0E1A2B"/>
                          </a:solidFill>
                          <a:latin typeface="IBM Plex Sans" pitchFamily="34" charset="0"/>
                          <a:ea typeface="IBM Plex Sans" pitchFamily="34" charset="-122"/>
                          <a:cs typeface="IBM Plex Sans" pitchFamily="34" charset="-120"/>
                        </a:rPr>
                        <a:t>“Guaranteed refund anytime”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c>
                  <a:txBody>
                    <a:bodyPr/>
                    <a:lstStyle/>
                    <a:p>
                      <a:pPr indent="0" marL="0">
                        <a:lnSpc>
                          <a:spcPts val="1960"/>
                        </a:lnSpc>
                        <a:buNone/>
                      </a:pPr>
                      <a:r>
                        <a:rPr lang="en-US" sz="1400" dirty="0">
                          <a:solidFill>
                            <a:srgbClr val="C2410C"/>
                          </a:solidFill>
                          <a:latin typeface="IBM Plex Sans" pitchFamily="34" charset="0"/>
                          <a:ea typeface="IBM Plex Sans" pitchFamily="34" charset="-122"/>
                          <a:cs typeface="IBM Plex Sans" pitchFamily="34" charset="-120"/>
                        </a:rPr>
                        <a:t>Rejected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c>
                  <a:txBody>
                    <a:bodyPr/>
                    <a:lstStyle/>
                    <a:p>
                      <a:pPr indent="0" marL="0">
                        <a:lnSpc>
                          <a:spcPts val="1960"/>
                        </a:lnSpc>
                        <a:buNone/>
                      </a:pPr>
                      <a:r>
                        <a:rPr lang="en-US" sz="1400" dirty="0">
                          <a:solidFill>
                            <a:srgbClr val="0E1A2B"/>
                          </a:solidFill>
                          <a:latin typeface="IBM Plex Sans" pitchFamily="34" charset="0"/>
                          <a:ea typeface="IBM Plex Sans" pitchFamily="34" charset="-122"/>
                          <a:cs typeface="IBM Plex Sans" pitchFamily="34" charset="-120"/>
                        </a:rPr>
                        <a:t>Banned phrase, and it contradicts the 14-day policy.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r>
              <a:tr h="384616">
                <a:tc>
                  <a:txBody>
                    <a:bodyPr/>
                    <a:lstStyle/>
                    <a:p>
                      <a:pPr indent="0" marL="0">
                        <a:lnSpc>
                          <a:spcPts val="1960"/>
                        </a:lnSpc>
                        <a:buNone/>
                      </a:pPr>
                      <a:r>
                        <a:rPr lang="en-US" sz="1400" dirty="0">
                          <a:solidFill>
                            <a:srgbClr val="0E1A2B"/>
                          </a:solidFill>
                          <a:latin typeface="IBM Plex Sans" pitchFamily="34" charset="0"/>
                          <a:ea typeface="IBM Plex Sans" pitchFamily="34" charset="-122"/>
                          <a:cs typeface="IBM Plex Sans" pitchFamily="34" charset="-120"/>
                        </a:rPr>
                        <a:t>The checker crashes or times out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c>
                  <a:txBody>
                    <a:bodyPr/>
                    <a:lstStyle/>
                    <a:p>
                      <a:pPr indent="0" marL="0">
                        <a:lnSpc>
                          <a:spcPts val="1960"/>
                        </a:lnSpc>
                        <a:buNone/>
                      </a:pPr>
                      <a:r>
                        <a:rPr lang="en-US" sz="1400" dirty="0">
                          <a:solidFill>
                            <a:srgbClr val="0E1A2B"/>
                          </a:solidFill>
                          <a:latin typeface="IBM Plex Sans" pitchFamily="34" charset="0"/>
                          <a:ea typeface="IBM Plex Sans" pitchFamily="34" charset="-122"/>
                          <a:cs typeface="IBM Plex Sans" pitchFamily="34" charset="-120"/>
                        </a:rPr>
                        <a:t>Error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c>
                  <a:txBody>
                    <a:bodyPr/>
                    <a:lstStyle/>
                    <a:p>
                      <a:pPr indent="0" marL="0">
                        <a:lnSpc>
                          <a:spcPts val="1960"/>
                        </a:lnSpc>
                        <a:buNone/>
                      </a:pPr>
                      <a:r>
                        <a:rPr lang="en-US" sz="1400" dirty="0">
                          <a:solidFill>
                            <a:srgbClr val="0E1A2B"/>
                          </a:solidFill>
                          <a:latin typeface="IBM Plex Sans" pitchFamily="34" charset="0"/>
                          <a:ea typeface="IBM Plex Sans" pitchFamily="34" charset="-122"/>
                          <a:cs typeface="IBM Plex Sans" pitchFamily="34" charset="-120"/>
                        </a:rPr>
                        <a:t>Safe message shown. Audit decision is Error.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r>
              <a:tr h="633501">
                <a:tc>
                  <a:txBody>
                    <a:bodyPr/>
                    <a:lstStyle/>
                    <a:p>
                      <a:pPr indent="0" marL="0">
                        <a:lnSpc>
                          <a:spcPts val="1960"/>
                        </a:lnSpc>
                        <a:buNone/>
                      </a:pPr>
                      <a:r>
                        <a:rPr lang="en-US" sz="1400" dirty="0">
                          <a:solidFill>
                            <a:srgbClr val="0E1A2B"/>
                          </a:solidFill>
                          <a:latin typeface="IBM Plex Sans" pitchFamily="34" charset="0"/>
                          <a:ea typeface="IBM Plex Sans" pitchFamily="34" charset="-122"/>
                          <a:cs typeface="IBM Plex Sans" pitchFamily="34" charset="-120"/>
                        </a:rPr>
                        <a:t>All 50 labelled answers run in batch</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c>
                  <a:txBody>
                    <a:bodyPr/>
                    <a:lstStyle/>
                    <a:p>
                      <a:pPr indent="0" marL="0">
                        <a:lnSpc>
                          <a:spcPts val="1960"/>
                        </a:lnSpc>
                        <a:buNone/>
                      </a:pPr>
                      <a:r>
                        <a:rPr lang="en-US" sz="1400" dirty="0">
                          <a:solidFill>
                            <a:srgbClr val="0E1A2B"/>
                          </a:solidFill>
                          <a:latin typeface="IBM Plex Sans" pitchFamily="34" charset="0"/>
                          <a:ea typeface="IBM Plex Sans" pitchFamily="34" charset="-122"/>
                          <a:cs typeface="IBM Plex Sans" pitchFamily="34" charset="-120"/>
                        </a:rPr>
                        <a:t>Suite run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c>
                  <a:txBody>
                    <a:bodyPr/>
                    <a:lstStyle/>
                    <a:p>
                      <a:pPr indent="0" marL="0">
                        <a:lnSpc>
                          <a:spcPts val="1960"/>
                        </a:lnSpc>
                        <a:buNone/>
                      </a:pPr>
                      <a:r>
                        <a:rPr lang="en-US" sz="1400" dirty="0">
                          <a:solidFill>
                            <a:srgbClr val="0E1A2B"/>
                          </a:solidFill>
                          <a:latin typeface="IBM Plex Sans" pitchFamily="34" charset="0"/>
                          <a:ea typeface="IBM Plex Sans" pitchFamily="34" charset="-122"/>
                          <a:cs typeface="IBM Plex Sans" pitchFamily="34" charset="-120"/>
                        </a:rPr>
                        <a:t>The customer view never shows an answer labelled Reject.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r>
            </a:tbl>
          </a:graphicData>
        </a:graphic>
      </p:graphicFrame>
      <p:sp>
        <p:nvSpPr>
          <p:cNvPr id="6" name="Text 3"/>
          <p:cNvSpPr/>
          <p:nvPr/>
        </p:nvSpPr>
        <p:spPr>
          <a:xfrm>
            <a:off x="812800" y="6238261"/>
            <a:ext cx="10883392"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676"/>
                </a:solidFill>
                <a:latin typeface="JetBrains Mono" pitchFamily="49" charset="0"/>
                <a:ea typeface="JetBrains Mono" pitchFamily="49" charset="-122"/>
                <a:cs typeface="JetBrains Mono" pitchFamily="49" charset="-120"/>
              </a:rPr>
              <a:t>POC-11 · Compliance Firewall · 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1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E1A2B"/>
                </a:solidFill>
                <a:latin typeface="IBM Plex Sans" pitchFamily="34" charset="0"/>
                <a:ea typeface="IBM Plex Sans" pitchFamily="34" charset="-122"/>
                <a:cs typeface="IBM Plex Sans" pitchFamily="34" charset="-120"/>
              </a:rPr>
              <a:t>Architecture</a:t>
            </a:r>
            <a:endParaRPr lang="en-US" sz="3200" dirty="0"/>
          </a:p>
        </p:txBody>
      </p:sp>
      <p:sp>
        <p:nvSpPr>
          <p:cNvPr id="3" name="Shape 1"/>
          <p:cNvSpPr/>
          <p:nvPr/>
        </p:nvSpPr>
        <p:spPr>
          <a:xfrm>
            <a:off x="815975" y="1466186"/>
            <a:ext cx="2311400" cy="1025966"/>
          </a:xfrm>
          <a:prstGeom prst="roundRect">
            <a:avLst>
              <a:gd name="adj" fmla="val 7118"/>
            </a:avLst>
          </a:prstGeom>
          <a:solidFill>
            <a:srgbClr val="FCFBF7"/>
          </a:solidFill>
          <a:ln w="6350">
            <a:solidFill>
              <a:srgbClr val="D9D2C1"/>
            </a:solidFill>
            <a:prstDash val="solid"/>
          </a:ln>
        </p:spPr>
      </p:sp>
      <p:sp>
        <p:nvSpPr>
          <p:cNvPr id="4" name="Text 2"/>
          <p:cNvSpPr/>
          <p:nvPr/>
        </p:nvSpPr>
        <p:spPr>
          <a:xfrm>
            <a:off x="970844" y="1621061"/>
            <a:ext cx="2061711" cy="238742"/>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C2410C"/>
                </a:solidFill>
                <a:latin typeface="IBM Plex Sans" pitchFamily="34" charset="0"/>
                <a:ea typeface="IBM Plex Sans" pitchFamily="34" charset="-122"/>
                <a:cs typeface="IBM Plex Sans" pitchFamily="34" charset="-120"/>
              </a:rPr>
              <a:t>1</a:t>
            </a:r>
            <a:r>
              <a:rPr lang="en-US" sz="1400" b="1" dirty="0">
                <a:solidFill>
                  <a:srgbClr val="0E1A2B"/>
                </a:solidFill>
                <a:latin typeface="IBM Plex Sans" pitchFamily="34" charset="0"/>
                <a:ea typeface="IBM Plex Sans" pitchFamily="34" charset="-122"/>
                <a:cs typeface="IBM Plex Sans" pitchFamily="34" charset="-120"/>
              </a:rPr>
              <a:t> AI draft</a:t>
            </a:r>
            <a:endParaRPr lang="en-US" sz="1400" dirty="0"/>
          </a:p>
        </p:txBody>
      </p:sp>
      <p:sp>
        <p:nvSpPr>
          <p:cNvPr id="5" name="Text 3"/>
          <p:cNvSpPr/>
          <p:nvPr/>
        </p:nvSpPr>
        <p:spPr>
          <a:xfrm>
            <a:off x="970844" y="1910600"/>
            <a:ext cx="2061711" cy="45208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4858"/>
                </a:solidFill>
                <a:latin typeface="IBM Plex Sans" pitchFamily="34" charset="0"/>
                <a:ea typeface="IBM Plex Sans" pitchFamily="34" charset="-122"/>
                <a:cs typeface="IBM Plex Sans" pitchFamily="34" charset="-120"/>
              </a:rPr>
              <a:t>The assistant writes an answer</a:t>
            </a:r>
            <a:endParaRPr lang="en-US" sz="1200" dirty="0"/>
          </a:p>
        </p:txBody>
      </p:sp>
      <p:pic>
        <p:nvPicPr>
          <p:cNvPr id="6" name="Image 0" descr="arrow-right">    </p:cNvPr>
          <p:cNvPicPr>
            <a:picLocks noChangeAspect="1"/>
          </p:cNvPicPr>
          <p:nvPr/>
        </p:nvPicPr>
        <p:blipFill>
          <a:blip r:embed="rId1"/>
          <a:srcRect l="0" r="0" t="0" b="0"/>
          <a:stretch/>
        </p:blipFill>
        <p:spPr>
          <a:xfrm>
            <a:off x="3232150" y="1909322"/>
            <a:ext cx="228600" cy="139700"/>
          </a:xfrm>
          <a:prstGeom prst="rect">
            <a:avLst/>
          </a:prstGeom>
        </p:spPr>
      </p:pic>
      <p:sp>
        <p:nvSpPr>
          <p:cNvPr id="7" name="Shape 4"/>
          <p:cNvSpPr/>
          <p:nvPr/>
        </p:nvSpPr>
        <p:spPr>
          <a:xfrm>
            <a:off x="3565525" y="1572859"/>
            <a:ext cx="2311400" cy="812624"/>
          </a:xfrm>
          <a:prstGeom prst="roundRect">
            <a:avLst>
              <a:gd name="adj" fmla="val 8986"/>
            </a:avLst>
          </a:prstGeom>
          <a:solidFill>
            <a:srgbClr val="FCFBF7"/>
          </a:solidFill>
          <a:ln w="6350">
            <a:solidFill>
              <a:srgbClr val="D9D2C1"/>
            </a:solidFill>
            <a:prstDash val="solid"/>
          </a:ln>
        </p:spPr>
      </p:sp>
      <p:sp>
        <p:nvSpPr>
          <p:cNvPr id="8" name="Text 5"/>
          <p:cNvSpPr/>
          <p:nvPr/>
        </p:nvSpPr>
        <p:spPr>
          <a:xfrm>
            <a:off x="3720395" y="1727727"/>
            <a:ext cx="2061711" cy="238742"/>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C2410C"/>
                </a:solidFill>
                <a:latin typeface="IBM Plex Sans" pitchFamily="34" charset="0"/>
                <a:ea typeface="IBM Plex Sans" pitchFamily="34" charset="-122"/>
                <a:cs typeface="IBM Plex Sans" pitchFamily="34" charset="-120"/>
              </a:rPr>
              <a:t>2</a:t>
            </a:r>
            <a:r>
              <a:rPr lang="en-US" sz="1400" b="1" dirty="0">
                <a:solidFill>
                  <a:srgbClr val="0E1A2B"/>
                </a:solidFill>
                <a:latin typeface="IBM Plex Sans" pitchFamily="34" charset="0"/>
                <a:ea typeface="IBM Plex Sans" pitchFamily="34" charset="-122"/>
                <a:cs typeface="IBM Plex Sans" pitchFamily="34" charset="-120"/>
              </a:rPr>
              <a:t> Intercept</a:t>
            </a:r>
            <a:endParaRPr lang="en-US" sz="1400" dirty="0"/>
          </a:p>
        </p:txBody>
      </p:sp>
      <p:sp>
        <p:nvSpPr>
          <p:cNvPr id="9" name="Text 6"/>
          <p:cNvSpPr/>
          <p:nvPr/>
        </p:nvSpPr>
        <p:spPr>
          <a:xfrm>
            <a:off x="3720395" y="2017272"/>
            <a:ext cx="2061711"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4858"/>
                </a:solidFill>
                <a:latin typeface="IBM Plex Sans" pitchFamily="34" charset="0"/>
                <a:ea typeface="IBM Plex Sans" pitchFamily="34" charset="-122"/>
                <a:cs typeface="IBM Plex Sans" pitchFamily="34" charset="-120"/>
              </a:rPr>
              <a:t>Rules load from a cache</a:t>
            </a:r>
            <a:endParaRPr lang="en-US" sz="1200" dirty="0"/>
          </a:p>
        </p:txBody>
      </p:sp>
      <p:pic>
        <p:nvPicPr>
          <p:cNvPr id="10" name="Image 1" descr="arrow-right">    </p:cNvPr>
          <p:cNvPicPr>
            <a:picLocks noChangeAspect="1"/>
          </p:cNvPicPr>
          <p:nvPr/>
        </p:nvPicPr>
        <p:blipFill>
          <a:blip r:embed="rId2"/>
          <a:srcRect l="0" r="0" t="0" b="0"/>
          <a:stretch/>
        </p:blipFill>
        <p:spPr>
          <a:xfrm>
            <a:off x="5981700" y="1909322"/>
            <a:ext cx="228600" cy="139700"/>
          </a:xfrm>
          <a:prstGeom prst="rect">
            <a:avLst/>
          </a:prstGeom>
        </p:spPr>
      </p:pic>
      <p:sp>
        <p:nvSpPr>
          <p:cNvPr id="11" name="Shape 7"/>
          <p:cNvSpPr/>
          <p:nvPr/>
        </p:nvSpPr>
        <p:spPr>
          <a:xfrm>
            <a:off x="6315075" y="1572859"/>
            <a:ext cx="2311400" cy="812624"/>
          </a:xfrm>
          <a:prstGeom prst="roundRect">
            <a:avLst>
              <a:gd name="adj" fmla="val 8986"/>
            </a:avLst>
          </a:prstGeom>
          <a:solidFill>
            <a:srgbClr val="FCFBF7"/>
          </a:solidFill>
          <a:ln w="6350">
            <a:solidFill>
              <a:srgbClr val="D9D2C1"/>
            </a:solidFill>
            <a:prstDash val="solid"/>
          </a:ln>
        </p:spPr>
      </p:sp>
      <p:sp>
        <p:nvSpPr>
          <p:cNvPr id="12" name="Text 8"/>
          <p:cNvSpPr/>
          <p:nvPr/>
        </p:nvSpPr>
        <p:spPr>
          <a:xfrm>
            <a:off x="6469945" y="1727727"/>
            <a:ext cx="2061711" cy="238742"/>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C2410C"/>
                </a:solidFill>
                <a:latin typeface="IBM Plex Sans" pitchFamily="34" charset="0"/>
                <a:ea typeface="IBM Plex Sans" pitchFamily="34" charset="-122"/>
                <a:cs typeface="IBM Plex Sans" pitchFamily="34" charset="-120"/>
              </a:rPr>
              <a:t>3</a:t>
            </a:r>
            <a:r>
              <a:rPr lang="en-US" sz="1400" b="1" dirty="0">
                <a:solidFill>
                  <a:srgbClr val="0E1A2B"/>
                </a:solidFill>
                <a:latin typeface="IBM Plex Sans" pitchFamily="34" charset="0"/>
                <a:ea typeface="IBM Plex Sans" pitchFamily="34" charset="-122"/>
                <a:cs typeface="IBM Plex Sans" pitchFamily="34" charset="-120"/>
              </a:rPr>
              <a:t> Extract facts</a:t>
            </a:r>
            <a:endParaRPr lang="en-US" sz="1400" dirty="0"/>
          </a:p>
        </p:txBody>
      </p:sp>
      <p:sp>
        <p:nvSpPr>
          <p:cNvPr id="13" name="Text 9"/>
          <p:cNvSpPr/>
          <p:nvPr/>
        </p:nvSpPr>
        <p:spPr>
          <a:xfrm>
            <a:off x="6469945" y="2017272"/>
            <a:ext cx="2061711"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4858"/>
                </a:solidFill>
                <a:latin typeface="IBM Plex Sans" pitchFamily="34" charset="0"/>
                <a:ea typeface="IBM Plex Sans" pitchFamily="34" charset="-122"/>
                <a:cs typeface="IBM Plex Sans" pitchFamily="34" charset="-120"/>
              </a:rPr>
              <a:t>Pattern rules first, then AI</a:t>
            </a:r>
            <a:endParaRPr lang="en-US" sz="1200" dirty="0"/>
          </a:p>
        </p:txBody>
      </p:sp>
      <p:pic>
        <p:nvPicPr>
          <p:cNvPr id="14" name="Image 2" descr="arrow-right">    </p:cNvPr>
          <p:cNvPicPr>
            <a:picLocks noChangeAspect="1"/>
          </p:cNvPicPr>
          <p:nvPr/>
        </p:nvPicPr>
        <p:blipFill>
          <a:blip r:embed="rId3"/>
          <a:srcRect l="0" r="0" t="0" b="0"/>
          <a:stretch/>
        </p:blipFill>
        <p:spPr>
          <a:xfrm>
            <a:off x="8731250" y="1909322"/>
            <a:ext cx="228600" cy="139700"/>
          </a:xfrm>
          <a:prstGeom prst="rect">
            <a:avLst/>
          </a:prstGeom>
        </p:spPr>
      </p:pic>
      <p:sp>
        <p:nvSpPr>
          <p:cNvPr id="15" name="Shape 10"/>
          <p:cNvSpPr/>
          <p:nvPr/>
        </p:nvSpPr>
        <p:spPr>
          <a:xfrm>
            <a:off x="9064625" y="1572859"/>
            <a:ext cx="2311400" cy="812624"/>
          </a:xfrm>
          <a:prstGeom prst="roundRect">
            <a:avLst>
              <a:gd name="adj" fmla="val 8986"/>
            </a:avLst>
          </a:prstGeom>
          <a:solidFill>
            <a:srgbClr val="FCFBF7"/>
          </a:solidFill>
          <a:ln w="6350">
            <a:solidFill>
              <a:srgbClr val="D9D2C1"/>
            </a:solidFill>
            <a:prstDash val="solid"/>
          </a:ln>
        </p:spPr>
      </p:sp>
      <p:sp>
        <p:nvSpPr>
          <p:cNvPr id="16" name="Text 11"/>
          <p:cNvSpPr/>
          <p:nvPr/>
        </p:nvSpPr>
        <p:spPr>
          <a:xfrm>
            <a:off x="9219495" y="1727727"/>
            <a:ext cx="2061711" cy="238742"/>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C2410C"/>
                </a:solidFill>
                <a:latin typeface="IBM Plex Sans" pitchFamily="34" charset="0"/>
                <a:ea typeface="IBM Plex Sans" pitchFamily="34" charset="-122"/>
                <a:cs typeface="IBM Plex Sans" pitchFamily="34" charset="-120"/>
              </a:rPr>
              <a:t>4</a:t>
            </a:r>
            <a:r>
              <a:rPr lang="en-US" sz="1400" b="1" dirty="0">
                <a:solidFill>
                  <a:srgbClr val="0E1A2B"/>
                </a:solidFill>
                <a:latin typeface="IBM Plex Sans" pitchFamily="34" charset="0"/>
                <a:ea typeface="IBM Plex Sans" pitchFamily="34" charset="-122"/>
                <a:cs typeface="IBM Plex Sans" pitchFamily="34" charset="-120"/>
              </a:rPr>
              <a:t> Code checks</a:t>
            </a:r>
            <a:endParaRPr lang="en-US" sz="1400" dirty="0"/>
          </a:p>
        </p:txBody>
      </p:sp>
      <p:sp>
        <p:nvSpPr>
          <p:cNvPr id="17" name="Text 12"/>
          <p:cNvSpPr/>
          <p:nvPr/>
        </p:nvSpPr>
        <p:spPr>
          <a:xfrm>
            <a:off x="9219495" y="2017272"/>
            <a:ext cx="2153355"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4858"/>
                </a:solidFill>
                <a:latin typeface="IBM Plex Sans" pitchFamily="34" charset="0"/>
                <a:ea typeface="IBM Plex Sans" pitchFamily="34" charset="-122"/>
                <a:cs typeface="IBM Plex Sans" pitchFamily="34" charset="-120"/>
              </a:rPr>
              <a:t>Prices, links, banned phrases</a:t>
            </a:r>
            <a:endParaRPr lang="en-US" sz="1200" dirty="0"/>
          </a:p>
        </p:txBody>
      </p:sp>
      <p:sp>
        <p:nvSpPr>
          <p:cNvPr id="18" name="Shape 13"/>
          <p:cNvSpPr/>
          <p:nvPr/>
        </p:nvSpPr>
        <p:spPr>
          <a:xfrm>
            <a:off x="815975" y="2808374"/>
            <a:ext cx="2314222" cy="812624"/>
          </a:xfrm>
          <a:prstGeom prst="roundRect">
            <a:avLst>
              <a:gd name="adj" fmla="val 8986"/>
            </a:avLst>
          </a:prstGeom>
          <a:solidFill>
            <a:srgbClr val="FCFBF7"/>
          </a:solidFill>
          <a:ln w="6350">
            <a:solidFill>
              <a:srgbClr val="D9D2C1"/>
            </a:solidFill>
            <a:prstDash val="solid"/>
          </a:ln>
        </p:spPr>
      </p:sp>
      <p:sp>
        <p:nvSpPr>
          <p:cNvPr id="19" name="Text 14"/>
          <p:cNvSpPr/>
          <p:nvPr/>
        </p:nvSpPr>
        <p:spPr>
          <a:xfrm>
            <a:off x="970844" y="2963249"/>
            <a:ext cx="2064618" cy="238742"/>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C2410C"/>
                </a:solidFill>
                <a:latin typeface="IBM Plex Sans" pitchFamily="34" charset="0"/>
                <a:ea typeface="IBM Plex Sans" pitchFamily="34" charset="-122"/>
                <a:cs typeface="IBM Plex Sans" pitchFamily="34" charset="-120"/>
              </a:rPr>
              <a:t>5</a:t>
            </a:r>
            <a:r>
              <a:rPr lang="en-US" sz="1400" b="1" dirty="0">
                <a:solidFill>
                  <a:srgbClr val="0E1A2B"/>
                </a:solidFill>
                <a:latin typeface="IBM Plex Sans" pitchFamily="34" charset="0"/>
                <a:ea typeface="IBM Plex Sans" pitchFamily="34" charset="-122"/>
                <a:cs typeface="IBM Plex Sans" pitchFamily="34" charset="-120"/>
              </a:rPr>
              <a:t> AI promise check</a:t>
            </a:r>
            <a:endParaRPr lang="en-US" sz="1400" dirty="0"/>
          </a:p>
        </p:txBody>
      </p:sp>
      <p:sp>
        <p:nvSpPr>
          <p:cNvPr id="20" name="Text 15"/>
          <p:cNvSpPr/>
          <p:nvPr/>
        </p:nvSpPr>
        <p:spPr>
          <a:xfrm>
            <a:off x="970844" y="3252788"/>
            <a:ext cx="2156178"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4858"/>
                </a:solidFill>
                <a:latin typeface="IBM Plex Sans" pitchFamily="34" charset="0"/>
                <a:ea typeface="IBM Plex Sans" pitchFamily="34" charset="-122"/>
                <a:cs typeface="IBM Plex Sans" pitchFamily="34" charset="-120"/>
              </a:rPr>
              <a:t>Needs a verified policy quote</a:t>
            </a:r>
            <a:endParaRPr lang="en-US" sz="1200" dirty="0"/>
          </a:p>
        </p:txBody>
      </p:sp>
      <p:pic>
        <p:nvPicPr>
          <p:cNvPr id="21" name="Image 3" descr="arrow-right">    </p:cNvPr>
          <p:cNvPicPr>
            <a:picLocks noChangeAspect="1"/>
          </p:cNvPicPr>
          <p:nvPr/>
        </p:nvPicPr>
        <p:blipFill>
          <a:blip r:embed="rId4"/>
          <a:srcRect l="0" r="0" t="0" b="0"/>
          <a:stretch/>
        </p:blipFill>
        <p:spPr>
          <a:xfrm>
            <a:off x="3234972" y="3144838"/>
            <a:ext cx="228600" cy="139700"/>
          </a:xfrm>
          <a:prstGeom prst="rect">
            <a:avLst/>
          </a:prstGeom>
        </p:spPr>
      </p:pic>
      <p:sp>
        <p:nvSpPr>
          <p:cNvPr id="22" name="Shape 16"/>
          <p:cNvSpPr/>
          <p:nvPr/>
        </p:nvSpPr>
        <p:spPr>
          <a:xfrm>
            <a:off x="3565172" y="2810849"/>
            <a:ext cx="2309283" cy="807685"/>
          </a:xfrm>
          <a:prstGeom prst="roundRect">
            <a:avLst>
              <a:gd name="adj" fmla="val 9434"/>
            </a:avLst>
          </a:prstGeom>
          <a:solidFill>
            <a:srgbClr val="0E1A2B"/>
          </a:solidFill>
          <a:ln/>
        </p:spPr>
      </p:sp>
      <p:sp>
        <p:nvSpPr>
          <p:cNvPr id="23" name="Text 17"/>
          <p:cNvSpPr/>
          <p:nvPr/>
        </p:nvSpPr>
        <p:spPr>
          <a:xfrm>
            <a:off x="3717572" y="2963249"/>
            <a:ext cx="2064618" cy="238742"/>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4A774"/>
                </a:solidFill>
                <a:latin typeface="IBM Plex Sans" pitchFamily="34" charset="0"/>
                <a:ea typeface="IBM Plex Sans" pitchFamily="34" charset="-122"/>
                <a:cs typeface="IBM Plex Sans" pitchFamily="34" charset="-120"/>
              </a:rPr>
              <a:t>6</a:t>
            </a:r>
            <a:r>
              <a:rPr lang="en-US" sz="1400" b="1" dirty="0">
                <a:solidFill>
                  <a:srgbClr val="F4F1EA"/>
                </a:solidFill>
                <a:latin typeface="IBM Plex Sans" pitchFamily="34" charset="0"/>
                <a:ea typeface="IBM Plex Sans" pitchFamily="34" charset="-122"/>
                <a:cs typeface="IBM Plex Sans" pitchFamily="34" charset="-120"/>
              </a:rPr>
              <a:t> Decision</a:t>
            </a:r>
            <a:endParaRPr lang="en-US" sz="1400" dirty="0"/>
          </a:p>
        </p:txBody>
      </p:sp>
      <p:sp>
        <p:nvSpPr>
          <p:cNvPr id="24" name="Text 18"/>
          <p:cNvSpPr/>
          <p:nvPr/>
        </p:nvSpPr>
        <p:spPr>
          <a:xfrm>
            <a:off x="3717572" y="3252788"/>
            <a:ext cx="2064618"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6C8"/>
                </a:solidFill>
                <a:latin typeface="IBM Plex Sans" pitchFamily="34" charset="0"/>
                <a:ea typeface="IBM Plex Sans" pitchFamily="34" charset="-122"/>
                <a:cs typeface="IBM Plex Sans" pitchFamily="34" charset="-120"/>
              </a:rPr>
              <a:t>Approved, Rejected or Error</a:t>
            </a:r>
            <a:endParaRPr lang="en-US" sz="1200" dirty="0"/>
          </a:p>
        </p:txBody>
      </p:sp>
      <p:pic>
        <p:nvPicPr>
          <p:cNvPr id="25" name="Image 4" descr="arrow-right">    </p:cNvPr>
          <p:cNvPicPr>
            <a:picLocks noChangeAspect="1"/>
          </p:cNvPicPr>
          <p:nvPr/>
        </p:nvPicPr>
        <p:blipFill>
          <a:blip r:embed="rId5"/>
          <a:srcRect l="0" r="0" t="0" b="0"/>
          <a:stretch/>
        </p:blipFill>
        <p:spPr>
          <a:xfrm>
            <a:off x="5976056" y="3144838"/>
            <a:ext cx="228600" cy="139700"/>
          </a:xfrm>
          <a:prstGeom prst="rect">
            <a:avLst/>
          </a:prstGeom>
        </p:spPr>
      </p:pic>
      <p:sp>
        <p:nvSpPr>
          <p:cNvPr id="26" name="Shape 19"/>
          <p:cNvSpPr/>
          <p:nvPr/>
        </p:nvSpPr>
        <p:spPr>
          <a:xfrm>
            <a:off x="6309431" y="2701708"/>
            <a:ext cx="2314222" cy="1025966"/>
          </a:xfrm>
          <a:prstGeom prst="roundRect">
            <a:avLst>
              <a:gd name="adj" fmla="val 7118"/>
            </a:avLst>
          </a:prstGeom>
          <a:solidFill>
            <a:srgbClr val="FCFBF7"/>
          </a:solidFill>
          <a:ln w="6350">
            <a:solidFill>
              <a:srgbClr val="D9D2C1"/>
            </a:solidFill>
            <a:prstDash val="solid"/>
          </a:ln>
        </p:spPr>
      </p:sp>
      <p:sp>
        <p:nvSpPr>
          <p:cNvPr id="27" name="Text 20"/>
          <p:cNvSpPr/>
          <p:nvPr/>
        </p:nvSpPr>
        <p:spPr>
          <a:xfrm>
            <a:off x="6464300" y="2856576"/>
            <a:ext cx="2064618" cy="238742"/>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C2410C"/>
                </a:solidFill>
                <a:latin typeface="IBM Plex Sans" pitchFamily="34" charset="0"/>
                <a:ea typeface="IBM Plex Sans" pitchFamily="34" charset="-122"/>
                <a:cs typeface="IBM Plex Sans" pitchFamily="34" charset="-120"/>
              </a:rPr>
              <a:t>7</a:t>
            </a:r>
            <a:r>
              <a:rPr lang="en-US" sz="1400" b="1" dirty="0">
                <a:solidFill>
                  <a:srgbClr val="0E1A2B"/>
                </a:solidFill>
                <a:latin typeface="IBM Plex Sans" pitchFamily="34" charset="0"/>
                <a:ea typeface="IBM Plex Sans" pitchFamily="34" charset="-122"/>
                <a:cs typeface="IBM Plex Sans" pitchFamily="34" charset="-120"/>
              </a:rPr>
              <a:t> Audit log</a:t>
            </a:r>
            <a:endParaRPr lang="en-US" sz="1400" dirty="0"/>
          </a:p>
        </p:txBody>
      </p:sp>
      <p:sp>
        <p:nvSpPr>
          <p:cNvPr id="28" name="Text 21"/>
          <p:cNvSpPr/>
          <p:nvPr/>
        </p:nvSpPr>
        <p:spPr>
          <a:xfrm>
            <a:off x="6464300" y="3146115"/>
            <a:ext cx="2064618" cy="45208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4858"/>
                </a:solidFill>
                <a:latin typeface="IBM Plex Sans" pitchFamily="34" charset="0"/>
                <a:ea typeface="IBM Plex Sans" pitchFamily="34" charset="-122"/>
                <a:cs typeface="IBM Plex Sans" pitchFamily="34" charset="-120"/>
              </a:rPr>
              <a:t>Saved before anything is shown</a:t>
            </a:r>
            <a:endParaRPr lang="en-US" sz="1200" dirty="0"/>
          </a:p>
        </p:txBody>
      </p:sp>
      <p:pic>
        <p:nvPicPr>
          <p:cNvPr id="29" name="Image 5" descr="arrow-right">    </p:cNvPr>
          <p:cNvPicPr>
            <a:picLocks noChangeAspect="1"/>
          </p:cNvPicPr>
          <p:nvPr/>
        </p:nvPicPr>
        <p:blipFill>
          <a:blip r:embed="rId6"/>
          <a:srcRect l="0" r="0" t="0" b="0"/>
          <a:stretch/>
        </p:blipFill>
        <p:spPr>
          <a:xfrm>
            <a:off x="8728428" y="3144838"/>
            <a:ext cx="228600" cy="139700"/>
          </a:xfrm>
          <a:prstGeom prst="rect">
            <a:avLst/>
          </a:prstGeom>
        </p:spPr>
      </p:pic>
      <p:sp>
        <p:nvSpPr>
          <p:cNvPr id="30" name="Shape 22"/>
          <p:cNvSpPr/>
          <p:nvPr/>
        </p:nvSpPr>
        <p:spPr>
          <a:xfrm>
            <a:off x="9061803" y="2808374"/>
            <a:ext cx="2314222" cy="812624"/>
          </a:xfrm>
          <a:prstGeom prst="roundRect">
            <a:avLst>
              <a:gd name="adj" fmla="val 8986"/>
            </a:avLst>
          </a:prstGeom>
          <a:solidFill>
            <a:srgbClr val="FCFBF7"/>
          </a:solidFill>
          <a:ln w="6350">
            <a:solidFill>
              <a:srgbClr val="D9D2C1"/>
            </a:solidFill>
            <a:prstDash val="solid"/>
          </a:ln>
        </p:spPr>
      </p:sp>
      <p:sp>
        <p:nvSpPr>
          <p:cNvPr id="31" name="Text 23"/>
          <p:cNvSpPr/>
          <p:nvPr/>
        </p:nvSpPr>
        <p:spPr>
          <a:xfrm>
            <a:off x="9216672" y="2963249"/>
            <a:ext cx="2064618" cy="238742"/>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C2410C"/>
                </a:solidFill>
                <a:latin typeface="IBM Plex Sans" pitchFamily="34" charset="0"/>
                <a:ea typeface="IBM Plex Sans" pitchFamily="34" charset="-122"/>
                <a:cs typeface="IBM Plex Sans" pitchFamily="34" charset="-120"/>
              </a:rPr>
              <a:t>8</a:t>
            </a:r>
            <a:r>
              <a:rPr lang="en-US" sz="1400" b="1" dirty="0">
                <a:solidFill>
                  <a:srgbClr val="0E1A2B"/>
                </a:solidFill>
                <a:latin typeface="IBM Plex Sans" pitchFamily="34" charset="0"/>
                <a:ea typeface="IBM Plex Sans" pitchFamily="34" charset="-122"/>
                <a:cs typeface="IBM Plex Sans" pitchFamily="34" charset="-120"/>
              </a:rPr>
              <a:t> Customer</a:t>
            </a:r>
            <a:endParaRPr lang="en-US" sz="1400" dirty="0"/>
          </a:p>
        </p:txBody>
      </p:sp>
      <p:sp>
        <p:nvSpPr>
          <p:cNvPr id="32" name="Text 24"/>
          <p:cNvSpPr/>
          <p:nvPr/>
        </p:nvSpPr>
        <p:spPr>
          <a:xfrm>
            <a:off x="9216672" y="3252788"/>
            <a:ext cx="2064618"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4858"/>
                </a:solidFill>
                <a:latin typeface="IBM Plex Sans" pitchFamily="34" charset="0"/>
                <a:ea typeface="IBM Plex Sans" pitchFamily="34" charset="-122"/>
                <a:cs typeface="IBM Plex Sans" pitchFamily="34" charset="-120"/>
              </a:rPr>
              <a:t>Answer or safe message</a:t>
            </a:r>
            <a:endParaRPr lang="en-US" sz="1200" dirty="0"/>
          </a:p>
        </p:txBody>
      </p:sp>
      <p:sp>
        <p:nvSpPr>
          <p:cNvPr id="33" name="Shape 25"/>
          <p:cNvSpPr/>
          <p:nvPr/>
        </p:nvSpPr>
        <p:spPr>
          <a:xfrm>
            <a:off x="812800" y="3934048"/>
            <a:ext cx="3454400" cy="767027"/>
          </a:xfrm>
          <a:prstGeom prst="roundRect">
            <a:avLst>
              <a:gd name="adj" fmla="val 9934"/>
            </a:avLst>
          </a:prstGeom>
          <a:solidFill>
            <a:srgbClr val="E6E0D2"/>
          </a:solidFill>
          <a:ln/>
        </p:spPr>
      </p:sp>
      <p:sp>
        <p:nvSpPr>
          <p:cNvPr id="34" name="Text 26"/>
          <p:cNvSpPr/>
          <p:nvPr/>
        </p:nvSpPr>
        <p:spPr>
          <a:xfrm>
            <a:off x="965200" y="4086448"/>
            <a:ext cx="3244088" cy="223485"/>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0E1A2B"/>
                </a:solidFill>
                <a:latin typeface="IBM Plex Sans" pitchFamily="34" charset="0"/>
                <a:ea typeface="IBM Plex Sans" pitchFamily="34" charset="-122"/>
                <a:cs typeface="IBM Plex Sans" pitchFamily="34" charset="-120"/>
              </a:rPr>
              <a:t>Cheap checks first</a:t>
            </a:r>
            <a:endParaRPr lang="en-US" sz="1200" dirty="0"/>
          </a:p>
        </p:txBody>
      </p:sp>
      <p:sp>
        <p:nvSpPr>
          <p:cNvPr id="35" name="Text 27"/>
          <p:cNvSpPr/>
          <p:nvPr/>
        </p:nvSpPr>
        <p:spPr>
          <a:xfrm>
            <a:off x="965200" y="4335332"/>
            <a:ext cx="3244088"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4858"/>
                </a:solidFill>
                <a:latin typeface="IBM Plex Sans" pitchFamily="34" charset="0"/>
                <a:ea typeface="IBM Plex Sans" pitchFamily="34" charset="-122"/>
                <a:cs typeface="IBM Plex Sans" pitchFamily="34" charset="-120"/>
              </a:rPr>
              <a:t>If a code check fails, the AI check is skipped</a:t>
            </a:r>
            <a:endParaRPr lang="en-US" sz="1200" dirty="0"/>
          </a:p>
        </p:txBody>
      </p:sp>
      <p:sp>
        <p:nvSpPr>
          <p:cNvPr id="36" name="Shape 28"/>
          <p:cNvSpPr/>
          <p:nvPr/>
        </p:nvSpPr>
        <p:spPr>
          <a:xfrm>
            <a:off x="4368800" y="3934048"/>
            <a:ext cx="3454400" cy="767027"/>
          </a:xfrm>
          <a:prstGeom prst="roundRect">
            <a:avLst>
              <a:gd name="adj" fmla="val 9934"/>
            </a:avLst>
          </a:prstGeom>
          <a:solidFill>
            <a:srgbClr val="E6E0D2"/>
          </a:solidFill>
          <a:ln/>
        </p:spPr>
      </p:sp>
      <p:sp>
        <p:nvSpPr>
          <p:cNvPr id="37" name="Text 29"/>
          <p:cNvSpPr/>
          <p:nvPr/>
        </p:nvSpPr>
        <p:spPr>
          <a:xfrm>
            <a:off x="4521200" y="4086448"/>
            <a:ext cx="3244088" cy="223485"/>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0E1A2B"/>
                </a:solidFill>
                <a:latin typeface="IBM Plex Sans" pitchFamily="34" charset="0"/>
                <a:ea typeface="IBM Plex Sans" pitchFamily="34" charset="-122"/>
                <a:cs typeface="IBM Plex Sans" pitchFamily="34" charset="-120"/>
              </a:rPr>
              <a:t>No facts, no AI</a:t>
            </a:r>
            <a:endParaRPr lang="en-US" sz="1200" dirty="0"/>
          </a:p>
        </p:txBody>
      </p:sp>
      <p:sp>
        <p:nvSpPr>
          <p:cNvPr id="38" name="Text 30"/>
          <p:cNvSpPr/>
          <p:nvPr/>
        </p:nvSpPr>
        <p:spPr>
          <a:xfrm>
            <a:off x="4521200" y="4335332"/>
            <a:ext cx="3244088"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4858"/>
                </a:solidFill>
                <a:latin typeface="IBM Plex Sans" pitchFamily="34" charset="0"/>
                <a:ea typeface="IBM Plex Sans" pitchFamily="34" charset="-122"/>
                <a:cs typeface="IBM Plex Sans" pitchFamily="34" charset="-120"/>
              </a:rPr>
              <a:t>Answers with no facts are approved at once</a:t>
            </a:r>
            <a:endParaRPr lang="en-US" sz="1200" dirty="0"/>
          </a:p>
        </p:txBody>
      </p:sp>
      <p:sp>
        <p:nvSpPr>
          <p:cNvPr id="39" name="Shape 31"/>
          <p:cNvSpPr/>
          <p:nvPr/>
        </p:nvSpPr>
        <p:spPr>
          <a:xfrm>
            <a:off x="7924800" y="3934048"/>
            <a:ext cx="3454400" cy="767027"/>
          </a:xfrm>
          <a:prstGeom prst="roundRect">
            <a:avLst>
              <a:gd name="adj" fmla="val 9934"/>
            </a:avLst>
          </a:prstGeom>
          <a:solidFill>
            <a:srgbClr val="E6E0D2"/>
          </a:solidFill>
          <a:ln/>
        </p:spPr>
      </p:sp>
      <p:sp>
        <p:nvSpPr>
          <p:cNvPr id="40" name="Text 32"/>
          <p:cNvSpPr/>
          <p:nvPr/>
        </p:nvSpPr>
        <p:spPr>
          <a:xfrm>
            <a:off x="8077200" y="4086448"/>
            <a:ext cx="3244088" cy="223485"/>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0E1A2B"/>
                </a:solidFill>
                <a:latin typeface="IBM Plex Sans" pitchFamily="34" charset="0"/>
                <a:ea typeface="IBM Plex Sans" pitchFamily="34" charset="-122"/>
                <a:cs typeface="IBM Plex Sans" pitchFamily="34" charset="-120"/>
              </a:rPr>
              <a:t>Rules load once</a:t>
            </a:r>
            <a:endParaRPr lang="en-US" sz="1200" dirty="0"/>
          </a:p>
        </p:txBody>
      </p:sp>
      <p:sp>
        <p:nvSpPr>
          <p:cNvPr id="41" name="Text 33"/>
          <p:cNvSpPr/>
          <p:nvPr/>
        </p:nvSpPr>
        <p:spPr>
          <a:xfrm>
            <a:off x="8077200" y="4335332"/>
            <a:ext cx="3244088"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4858"/>
                </a:solidFill>
                <a:latin typeface="IBM Plex Sans" pitchFamily="34" charset="0"/>
                <a:ea typeface="IBM Plex Sans" pitchFamily="34" charset="-122"/>
                <a:cs typeface="IBM Plex Sans" pitchFamily="34" charset="-120"/>
              </a:rPr>
              <a:t>They reload only when the version changes</a:t>
            </a:r>
            <a:endParaRPr lang="en-US" sz="1200" dirty="0"/>
          </a:p>
        </p:txBody>
      </p:sp>
      <p:sp>
        <p:nvSpPr>
          <p:cNvPr id="42" name="Text 34"/>
          <p:cNvSpPr/>
          <p:nvPr/>
        </p:nvSpPr>
        <p:spPr>
          <a:xfrm>
            <a:off x="812800" y="6238261"/>
            <a:ext cx="10883392"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676"/>
                </a:solidFill>
                <a:latin typeface="JetBrains Mono" pitchFamily="49" charset="0"/>
                <a:ea typeface="JetBrains Mono" pitchFamily="49" charset="-122"/>
                <a:cs typeface="JetBrains Mono" pitchFamily="49" charset="-120"/>
              </a:rPr>
              <a:t>POC-11 · Compliance Firewall · 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1A2B"/>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4F1EA"/>
                </a:solidFill>
                <a:latin typeface="IBM Plex Sans" pitchFamily="34" charset="0"/>
                <a:ea typeface="IBM Plex Sans" pitchFamily="34" charset="-122"/>
                <a:cs typeface="IBM Plex Sans" pitchFamily="34" charset="-120"/>
              </a:rPr>
              <a:t>Results on the 50-answer suite</a:t>
            </a:r>
            <a:endParaRPr lang="en-US" sz="3200" dirty="0"/>
          </a:p>
        </p:txBody>
      </p:sp>
      <p:sp>
        <p:nvSpPr>
          <p:cNvPr id="3" name="Shape 1"/>
          <p:cNvSpPr/>
          <p:nvPr/>
        </p:nvSpPr>
        <p:spPr>
          <a:xfrm>
            <a:off x="812800" y="2485454"/>
            <a:ext cx="3318933" cy="0"/>
          </a:xfrm>
          <a:prstGeom prst="line">
            <a:avLst/>
          </a:prstGeom>
          <a:noFill/>
          <a:ln w="25400">
            <a:solidFill>
              <a:srgbClr val="F4A774"/>
            </a:solidFill>
            <a:prstDash val="solid"/>
          </a:ln>
        </p:spPr>
      </p:sp>
      <p:sp>
        <p:nvSpPr>
          <p:cNvPr id="4" name="Text 2"/>
          <p:cNvSpPr/>
          <p:nvPr/>
        </p:nvSpPr>
        <p:spPr>
          <a:xfrm>
            <a:off x="812800" y="2701354"/>
            <a:ext cx="3418501" cy="825500"/>
          </a:xfrm>
          <a:prstGeom prst="rect">
            <a:avLst/>
          </a:prstGeom>
          <a:noFill/>
          <a:ln/>
        </p:spPr>
        <p:txBody>
          <a:bodyPr wrap="square" lIns="0" tIns="0" rIns="0" bIns="0" rtlCol="0" anchor="t">
            <a:normAutofit/>
          </a:bodyPr>
          <a:lstStyle/>
          <a:p>
            <a:pPr algn="l" indent="0" marL="0">
              <a:lnSpc>
                <a:spcPts val="6300"/>
              </a:lnSpc>
              <a:buNone/>
            </a:pPr>
            <a:r>
              <a:rPr lang="en-US" sz="6000" b="1" dirty="0">
                <a:solidFill>
                  <a:srgbClr val="F4F1EA"/>
                </a:solidFill>
                <a:latin typeface="IBM Plex Sans" pitchFamily="34" charset="0"/>
                <a:ea typeface="IBM Plex Sans" pitchFamily="34" charset="-122"/>
                <a:cs typeface="IBM Plex Sans" pitchFamily="34" charset="-120"/>
              </a:rPr>
              <a:t>0</a:t>
            </a:r>
            <a:endParaRPr lang="en-US" sz="6000" dirty="0"/>
          </a:p>
        </p:txBody>
      </p:sp>
      <p:sp>
        <p:nvSpPr>
          <p:cNvPr id="5" name="Text 3"/>
          <p:cNvSpPr/>
          <p:nvPr/>
        </p:nvSpPr>
        <p:spPr>
          <a:xfrm>
            <a:off x="812800" y="3603054"/>
            <a:ext cx="3418501" cy="487627"/>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F4F1EA"/>
                </a:solidFill>
                <a:latin typeface="IBM Plex Sans" pitchFamily="34" charset="0"/>
                <a:ea typeface="IBM Plex Sans" pitchFamily="34" charset="-122"/>
                <a:cs typeface="IBM Plex Sans" pitchFamily="34" charset="-120"/>
              </a:rPr>
              <a:t>Rejected answers shown to the customer</a:t>
            </a:r>
            <a:endParaRPr lang="en-US" sz="1400" dirty="0"/>
          </a:p>
        </p:txBody>
      </p:sp>
      <p:sp>
        <p:nvSpPr>
          <p:cNvPr id="6" name="Text 4"/>
          <p:cNvSpPr/>
          <p:nvPr/>
        </p:nvSpPr>
        <p:spPr>
          <a:xfrm>
            <a:off x="812800" y="4166877"/>
            <a:ext cx="3418501"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6C8"/>
                </a:solidFill>
                <a:latin typeface="IBM Plex Sans" pitchFamily="34" charset="0"/>
                <a:ea typeface="IBM Plex Sans" pitchFamily="34" charset="-122"/>
                <a:cs typeface="IBM Plex Sans" pitchFamily="34" charset="-120"/>
              </a:rPr>
              <a:t>Target: 0, ever</a:t>
            </a:r>
            <a:endParaRPr lang="en-US" sz="1200" dirty="0"/>
          </a:p>
        </p:txBody>
      </p:sp>
      <p:sp>
        <p:nvSpPr>
          <p:cNvPr id="7" name="Shape 5"/>
          <p:cNvSpPr/>
          <p:nvPr/>
        </p:nvSpPr>
        <p:spPr>
          <a:xfrm>
            <a:off x="4436533" y="2485454"/>
            <a:ext cx="3318933" cy="0"/>
          </a:xfrm>
          <a:prstGeom prst="line">
            <a:avLst/>
          </a:prstGeom>
          <a:noFill/>
          <a:ln w="25400">
            <a:solidFill>
              <a:srgbClr val="F4A774"/>
            </a:solidFill>
            <a:prstDash val="solid"/>
          </a:ln>
        </p:spPr>
      </p:sp>
      <p:sp>
        <p:nvSpPr>
          <p:cNvPr id="8" name="Text 6"/>
          <p:cNvSpPr/>
          <p:nvPr/>
        </p:nvSpPr>
        <p:spPr>
          <a:xfrm>
            <a:off x="4436533" y="2701354"/>
            <a:ext cx="3418501" cy="825500"/>
          </a:xfrm>
          <a:prstGeom prst="rect">
            <a:avLst/>
          </a:prstGeom>
          <a:noFill/>
          <a:ln/>
        </p:spPr>
        <p:txBody>
          <a:bodyPr wrap="square" lIns="0" tIns="0" rIns="0" bIns="0" rtlCol="0" anchor="t">
            <a:normAutofit/>
          </a:bodyPr>
          <a:lstStyle/>
          <a:p>
            <a:pPr algn="l" indent="0" marL="0">
              <a:lnSpc>
                <a:spcPts val="6300"/>
              </a:lnSpc>
              <a:buNone/>
            </a:pPr>
            <a:r>
              <a:rPr lang="en-US" sz="6000" b="1" dirty="0">
                <a:solidFill>
                  <a:srgbClr val="F4F1EA"/>
                </a:solidFill>
                <a:latin typeface="IBM Plex Sans" pitchFamily="34" charset="0"/>
                <a:ea typeface="IBM Plex Sans" pitchFamily="34" charset="-122"/>
                <a:cs typeface="IBM Plex Sans" pitchFamily="34" charset="-120"/>
              </a:rPr>
              <a:t>100%</a:t>
            </a:r>
            <a:endParaRPr lang="en-US" sz="6000" dirty="0"/>
          </a:p>
        </p:txBody>
      </p:sp>
      <p:sp>
        <p:nvSpPr>
          <p:cNvPr id="9" name="Text 7"/>
          <p:cNvSpPr/>
          <p:nvPr/>
        </p:nvSpPr>
        <p:spPr>
          <a:xfrm>
            <a:off x="4436533" y="3603054"/>
            <a:ext cx="3418501" cy="256514"/>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F4F1EA"/>
                </a:solidFill>
                <a:latin typeface="IBM Plex Sans" pitchFamily="34" charset="0"/>
                <a:ea typeface="IBM Plex Sans" pitchFamily="34" charset="-122"/>
                <a:cs typeface="IBM Plex Sans" pitchFamily="34" charset="-120"/>
              </a:rPr>
              <a:t>Violations caught</a:t>
            </a:r>
            <a:endParaRPr lang="en-US" sz="1400" dirty="0"/>
          </a:p>
        </p:txBody>
      </p:sp>
      <p:sp>
        <p:nvSpPr>
          <p:cNvPr id="10" name="Text 8"/>
          <p:cNvSpPr/>
          <p:nvPr/>
        </p:nvSpPr>
        <p:spPr>
          <a:xfrm>
            <a:off x="4436533" y="3935766"/>
            <a:ext cx="3418501"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6C8"/>
                </a:solidFill>
                <a:latin typeface="IBM Plex Sans" pitchFamily="34" charset="0"/>
                <a:ea typeface="IBM Plex Sans" pitchFamily="34" charset="-122"/>
                <a:cs typeface="IBM Plex Sans" pitchFamily="34" charset="-120"/>
              </a:rPr>
              <a:t>Target: at least 95%</a:t>
            </a:r>
            <a:endParaRPr lang="en-US" sz="1200" dirty="0"/>
          </a:p>
        </p:txBody>
      </p:sp>
      <p:sp>
        <p:nvSpPr>
          <p:cNvPr id="11" name="Shape 9"/>
          <p:cNvSpPr/>
          <p:nvPr/>
        </p:nvSpPr>
        <p:spPr>
          <a:xfrm>
            <a:off x="8060267" y="2485454"/>
            <a:ext cx="3318933" cy="0"/>
          </a:xfrm>
          <a:prstGeom prst="line">
            <a:avLst/>
          </a:prstGeom>
          <a:noFill/>
          <a:ln w="25400">
            <a:solidFill>
              <a:srgbClr val="F4A774"/>
            </a:solidFill>
            <a:prstDash val="solid"/>
          </a:ln>
        </p:spPr>
      </p:sp>
      <p:sp>
        <p:nvSpPr>
          <p:cNvPr id="12" name="Text 10"/>
          <p:cNvSpPr/>
          <p:nvPr/>
        </p:nvSpPr>
        <p:spPr>
          <a:xfrm>
            <a:off x="8060267" y="2701354"/>
            <a:ext cx="3418501" cy="825500"/>
          </a:xfrm>
          <a:prstGeom prst="rect">
            <a:avLst/>
          </a:prstGeom>
          <a:noFill/>
          <a:ln/>
        </p:spPr>
        <p:txBody>
          <a:bodyPr wrap="square" lIns="0" tIns="0" rIns="0" bIns="0" rtlCol="0" anchor="t">
            <a:normAutofit/>
          </a:bodyPr>
          <a:lstStyle/>
          <a:p>
            <a:pPr algn="l" indent="0" marL="0">
              <a:lnSpc>
                <a:spcPts val="6300"/>
              </a:lnSpc>
              <a:buNone/>
            </a:pPr>
            <a:r>
              <a:rPr lang="en-US" sz="6000" b="1" dirty="0">
                <a:solidFill>
                  <a:srgbClr val="F4F1EA"/>
                </a:solidFill>
                <a:latin typeface="IBM Plex Sans" pitchFamily="34" charset="0"/>
                <a:ea typeface="IBM Plex Sans" pitchFamily="34" charset="-122"/>
                <a:cs typeface="IBM Plex Sans" pitchFamily="34" charset="-120"/>
              </a:rPr>
              <a:t>0%</a:t>
            </a:r>
            <a:endParaRPr lang="en-US" sz="6000" dirty="0"/>
          </a:p>
        </p:txBody>
      </p:sp>
      <p:sp>
        <p:nvSpPr>
          <p:cNvPr id="13" name="Text 11"/>
          <p:cNvSpPr/>
          <p:nvPr/>
        </p:nvSpPr>
        <p:spPr>
          <a:xfrm>
            <a:off x="8060267" y="3603054"/>
            <a:ext cx="3418501" cy="256514"/>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F4F1EA"/>
                </a:solidFill>
                <a:latin typeface="IBM Plex Sans" pitchFamily="34" charset="0"/>
                <a:ea typeface="IBM Plex Sans" pitchFamily="34" charset="-122"/>
                <a:cs typeface="IBM Plex Sans" pitchFamily="34" charset="-120"/>
              </a:rPr>
              <a:t>Clean answers wrongly blocked</a:t>
            </a:r>
            <a:endParaRPr lang="en-US" sz="1400" dirty="0"/>
          </a:p>
        </p:txBody>
      </p:sp>
      <p:sp>
        <p:nvSpPr>
          <p:cNvPr id="14" name="Text 12"/>
          <p:cNvSpPr/>
          <p:nvPr/>
        </p:nvSpPr>
        <p:spPr>
          <a:xfrm>
            <a:off x="8060267" y="3935766"/>
            <a:ext cx="3418501"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6C8"/>
                </a:solidFill>
                <a:latin typeface="IBM Plex Sans" pitchFamily="34" charset="0"/>
                <a:ea typeface="IBM Plex Sans" pitchFamily="34" charset="-122"/>
                <a:cs typeface="IBM Plex Sans" pitchFamily="34" charset="-120"/>
              </a:rPr>
              <a:t>Target: at most 10%</a:t>
            </a:r>
            <a:endParaRPr lang="en-US" sz="1200" dirty="0"/>
          </a:p>
        </p:txBody>
      </p:sp>
      <p:sp>
        <p:nvSpPr>
          <p:cNvPr id="15" name="Text 13"/>
          <p:cNvSpPr/>
          <p:nvPr/>
        </p:nvSpPr>
        <p:spPr>
          <a:xfrm>
            <a:off x="812800" y="5593116"/>
            <a:ext cx="10883392" cy="27428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B6C8"/>
                </a:solidFill>
                <a:latin typeface="IBM Plex Sans" pitchFamily="34" charset="0"/>
                <a:ea typeface="IBM Plex Sans" pitchFamily="34" charset="-122"/>
                <a:cs typeface="IBM Plex Sans" pitchFamily="34" charset="-120"/>
              </a:rPr>
              <a:t>All three targets met, with 9 AI calls for 50 answers.</a:t>
            </a:r>
            <a:endParaRPr lang="en-US" sz="1400" dirty="0"/>
          </a:p>
        </p:txBody>
      </p:sp>
      <p:sp>
        <p:nvSpPr>
          <p:cNvPr id="16" name="Text 14"/>
          <p:cNvSpPr/>
          <p:nvPr/>
        </p:nvSpPr>
        <p:spPr>
          <a:xfrm>
            <a:off x="812800" y="6238261"/>
            <a:ext cx="10883392"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6C8"/>
                </a:solidFill>
                <a:latin typeface="JetBrains Mono" pitchFamily="49" charset="0"/>
                <a:ea typeface="JetBrains Mono" pitchFamily="49" charset="-122"/>
                <a:cs typeface="JetBrains Mono" pitchFamily="49" charset="-120"/>
              </a:rPr>
              <a:t>Live run, 1 Oct 2026 · Groq openai/gpt-oss-20b · 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1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E1A2B"/>
                </a:solidFill>
                <a:latin typeface="IBM Plex Sans" pitchFamily="34" charset="0"/>
                <a:ea typeface="IBM Plex Sans" pitchFamily="34" charset="-122"/>
                <a:cs typeface="IBM Plex Sans" pitchFamily="34" charset="-120"/>
              </a:rPr>
              <a:t>Free resources and their limits</a:t>
            </a:r>
            <a:endParaRPr lang="en-US" sz="3200" dirty="0"/>
          </a:p>
        </p:txBody>
      </p:sp>
      <p:sp>
        <p:nvSpPr>
          <p:cNvPr id="3" name="Text 1"/>
          <p:cNvSpPr/>
          <p:nvPr/>
        </p:nvSpPr>
        <p:spPr>
          <a:xfrm>
            <a:off x="812800" y="1564611"/>
            <a:ext cx="2092960" cy="825500"/>
          </a:xfrm>
          <a:prstGeom prst="rect">
            <a:avLst/>
          </a:prstGeom>
          <a:noFill/>
          <a:ln/>
        </p:spPr>
        <p:txBody>
          <a:bodyPr wrap="square" lIns="0" tIns="0" rIns="0" bIns="0" rtlCol="0" anchor="t">
            <a:normAutofit/>
          </a:bodyPr>
          <a:lstStyle/>
          <a:p>
            <a:pPr algn="l" indent="0" marL="0">
              <a:lnSpc>
                <a:spcPts val="6300"/>
              </a:lnSpc>
              <a:buNone/>
            </a:pPr>
            <a:r>
              <a:rPr lang="en-US" sz="6000" b="1" dirty="0">
                <a:solidFill>
                  <a:srgbClr val="C2410C"/>
                </a:solidFill>
                <a:latin typeface="IBM Plex Sans" pitchFamily="34" charset="0"/>
                <a:ea typeface="IBM Plex Sans" pitchFamily="34" charset="-122"/>
                <a:cs typeface="IBM Plex Sans" pitchFamily="34" charset="-120"/>
              </a:rPr>
              <a:t>$0</a:t>
            </a:r>
            <a:endParaRPr lang="en-US" sz="6000" dirty="0"/>
          </a:p>
        </p:txBody>
      </p:sp>
      <p:sp>
        <p:nvSpPr>
          <p:cNvPr id="4" name="Text 2"/>
          <p:cNvSpPr/>
          <p:nvPr/>
        </p:nvSpPr>
        <p:spPr>
          <a:xfrm>
            <a:off x="812800" y="2415511"/>
            <a:ext cx="2092960" cy="27428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C4858"/>
                </a:solidFill>
                <a:latin typeface="IBM Plex Sans" pitchFamily="34" charset="0"/>
                <a:ea typeface="IBM Plex Sans" pitchFamily="34" charset="-122"/>
                <a:cs typeface="IBM Plex Sans" pitchFamily="34" charset="-120"/>
              </a:rPr>
              <a:t>spent on this POC</a:t>
            </a:r>
            <a:endParaRPr lang="en-US" sz="1400" dirty="0"/>
          </a:p>
        </p:txBody>
      </p:sp>
      <p:sp>
        <p:nvSpPr>
          <p:cNvPr id="5" name="Shape 3"/>
          <p:cNvSpPr/>
          <p:nvPr/>
        </p:nvSpPr>
        <p:spPr>
          <a:xfrm>
            <a:off x="3251200" y="1564611"/>
            <a:ext cx="8128000" cy="2212181"/>
          </a:xfrm>
          <a:prstGeom prst="rect">
            <a:avLst/>
          </a:prstGeom>
          <a:solidFill>
            <a:srgbClr val="FCFBF7"/>
          </a:solidFill>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3262489" y="1575900"/>
          <a:ext cx="8116711" cy="2200892"/>
        </p:xfrm>
        <a:graphic>
          <a:graphicData uri="http://schemas.openxmlformats.org/drawingml/2006/table">
            <a:tbl>
              <a:tblPr/>
              <a:tblGrid>
                <a:gridCol w="2435013"/>
                <a:gridCol w="1785676"/>
                <a:gridCol w="3896021"/>
              </a:tblGrid>
              <a:tr h="331258">
                <a:tc>
                  <a:txBody>
                    <a:bodyPr/>
                    <a:lstStyle/>
                    <a:p>
                      <a:pPr indent="0" marL="0">
                        <a:lnSpc>
                          <a:spcPts val="1680"/>
                        </a:lnSpc>
                        <a:buNone/>
                      </a:pPr>
                      <a:r>
                        <a:rPr lang="en-US" sz="1200" b="1" dirty="0">
                          <a:solidFill>
                            <a:srgbClr val="0E1A2B"/>
                          </a:solidFill>
                          <a:latin typeface="IBM Plex Sans" pitchFamily="34" charset="0"/>
                          <a:ea typeface="IBM Plex Sans" pitchFamily="34" charset="-122"/>
                          <a:cs typeface="IBM Plex Sans" pitchFamily="34" charset="-120"/>
                        </a:rPr>
                        <a:t>Resource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B8B3A8"/>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8B3A8"/>
                      </a:solidFill>
                      <a:prstDash val="solid"/>
                      <a:round/>
                      <a:headEnd type="none" w="med" len="med"/>
                      <a:tailEnd type="none" w="med" len="med"/>
                    </a:lnB>
                    <a:solidFill>
                      <a:srgbClr val="E6E0D2"/>
                    </a:solidFill>
                  </a:tcPr>
                </a:tc>
                <a:tc>
                  <a:txBody>
                    <a:bodyPr/>
                    <a:lstStyle/>
                    <a:p>
                      <a:pPr indent="0" marL="0">
                        <a:lnSpc>
                          <a:spcPts val="1680"/>
                        </a:lnSpc>
                        <a:buNone/>
                      </a:pPr>
                      <a:r>
                        <a:rPr lang="en-US" sz="1200" b="1" dirty="0">
                          <a:solidFill>
                            <a:srgbClr val="0E1A2B"/>
                          </a:solidFill>
                          <a:latin typeface="IBM Plex Sans" pitchFamily="34" charset="0"/>
                          <a:ea typeface="IBM Plex Sans" pitchFamily="34" charset="-122"/>
                          <a:cs typeface="IBM Plex Sans" pitchFamily="34" charset="-120"/>
                        </a:rPr>
                        <a:t>Tier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8B3A8"/>
                      </a:solidFill>
                      <a:prstDash val="solid"/>
                      <a:round/>
                      <a:headEnd type="none" w="med" len="med"/>
                      <a:tailEnd type="none" w="med" len="med"/>
                    </a:lnL>
                    <a:lnR w="12700" cap="flat" cmpd="sng" algn="ctr">
                      <a:solidFill>
                        <a:srgbClr val="B8B3A8"/>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8B3A8"/>
                      </a:solidFill>
                      <a:prstDash val="solid"/>
                      <a:round/>
                      <a:headEnd type="none" w="med" len="med"/>
                      <a:tailEnd type="none" w="med" len="med"/>
                    </a:lnB>
                    <a:solidFill>
                      <a:srgbClr val="E6E0D2"/>
                    </a:solidFill>
                  </a:tcPr>
                </a:tc>
                <a:tc>
                  <a:txBody>
                    <a:bodyPr/>
                    <a:lstStyle/>
                    <a:p>
                      <a:pPr indent="0" marL="0">
                        <a:lnSpc>
                          <a:spcPts val="1680"/>
                        </a:lnSpc>
                        <a:buNone/>
                      </a:pPr>
                      <a:r>
                        <a:rPr lang="en-US" sz="1200" b="1" dirty="0">
                          <a:solidFill>
                            <a:srgbClr val="0E1A2B"/>
                          </a:solidFill>
                          <a:latin typeface="IBM Plex Sans" pitchFamily="34" charset="0"/>
                          <a:ea typeface="IBM Plex Sans" pitchFamily="34" charset="-122"/>
                          <a:cs typeface="IBM Plex Sans" pitchFamily="34" charset="-120"/>
                        </a:rPr>
                        <a:t>Limit, and how the POC handles it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8B3A8"/>
                      </a:solidFill>
                      <a:prstDash val="solid"/>
                      <a:round/>
                      <a:headEnd type="none" w="med" len="med"/>
                      <a:tailEnd type="none" w="med" len="med"/>
                    </a:lnL>
                    <a:lnR w="12700" cap="flat" cmpd="sng" algn="ctr">
                      <a:solidFill>
                        <a:srgbClr val="B8B3A8"/>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8B3A8"/>
                      </a:solidFill>
                      <a:prstDash val="solid"/>
                      <a:round/>
                      <a:headEnd type="none" w="med" len="med"/>
                      <a:tailEnd type="none" w="med" len="med"/>
                    </a:lnB>
                    <a:solidFill>
                      <a:srgbClr val="E6E0D2"/>
                    </a:solidFill>
                  </a:tcPr>
                </a:tc>
              </a:tr>
              <a:tr h="544601">
                <a:tc>
                  <a:txBody>
                    <a:bodyPr/>
                    <a:lstStyle/>
                    <a:p>
                      <a:pPr indent="0" marL="0">
                        <a:lnSpc>
                          <a:spcPts val="1680"/>
                        </a:lnSpc>
                        <a:buNone/>
                      </a:pPr>
                      <a:r>
                        <a:rPr lang="en-US" sz="1200" dirty="0">
                          <a:solidFill>
                            <a:srgbClr val="0E1A2B"/>
                          </a:solidFill>
                          <a:latin typeface="IBM Plex Sans" pitchFamily="34" charset="0"/>
                          <a:ea typeface="IBM Plex Sans" pitchFamily="34" charset="-122"/>
                          <a:cs typeface="IBM Plex Sans" pitchFamily="34" charset="-120"/>
                        </a:rPr>
                        <a:t>Groq API, openai/gpt-oss-20b</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8B3A8"/>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c>
                  <a:txBody>
                    <a:bodyPr/>
                    <a:lstStyle/>
                    <a:p>
                      <a:pPr indent="0" marL="0">
                        <a:lnSpc>
                          <a:spcPts val="1680"/>
                        </a:lnSpc>
                        <a:buNone/>
                      </a:pPr>
                      <a:r>
                        <a:rPr lang="en-US" sz="1200" dirty="0">
                          <a:solidFill>
                            <a:srgbClr val="0E1A2B"/>
                          </a:solidFill>
                          <a:latin typeface="IBM Plex Sans" pitchFamily="34" charset="0"/>
                          <a:ea typeface="IBM Plex Sans" pitchFamily="34" charset="-122"/>
                          <a:cs typeface="IBM Plex Sans" pitchFamily="34" charset="-120"/>
                        </a:rPr>
                        <a:t>Free tier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8B3A8"/>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c>
                  <a:txBody>
                    <a:bodyPr/>
                    <a:lstStyle/>
                    <a:p>
                      <a:pPr indent="0" marL="0">
                        <a:lnSpc>
                          <a:spcPts val="1680"/>
                        </a:lnSpc>
                        <a:buNone/>
                      </a:pPr>
                      <a:r>
                        <a:rPr lang="en-US" sz="1200" dirty="0">
                          <a:solidFill>
                            <a:srgbClr val="0E1A2B"/>
                          </a:solidFill>
                          <a:latin typeface="IBM Plex Sans" pitchFamily="34" charset="0"/>
                          <a:ea typeface="IBM Plex Sans" pitchFamily="34" charset="-122"/>
                          <a:cs typeface="IBM Plex Sans" pitchFamily="34" charset="-120"/>
                        </a:rPr>
                        <a:t>Per-minute and daily caps. The app caps itself at 25 AI calls a minute; over the limit, the decision is Error.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8B3A8"/>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r>
              <a:tr h="331258">
                <a:tc>
                  <a:txBody>
                    <a:bodyPr/>
                    <a:lstStyle/>
                    <a:p>
                      <a:pPr indent="0" marL="0">
                        <a:lnSpc>
                          <a:spcPts val="1680"/>
                        </a:lnSpc>
                        <a:buNone/>
                      </a:pPr>
                      <a:r>
                        <a:rPr lang="en-US" sz="1200" dirty="0">
                          <a:solidFill>
                            <a:srgbClr val="0E1A2B"/>
                          </a:solidFill>
                          <a:latin typeface="IBM Plex Sans" pitchFamily="34" charset="0"/>
                          <a:ea typeface="IBM Plex Sans" pitchFamily="34" charset="-122"/>
                          <a:cs typeface="IBM Plex Sans" pitchFamily="34" charset="-120"/>
                        </a:rPr>
                        <a:t>FastAPI, React, Vite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c>
                  <a:txBody>
                    <a:bodyPr/>
                    <a:lstStyle/>
                    <a:p>
                      <a:pPr indent="0" marL="0">
                        <a:lnSpc>
                          <a:spcPts val="1680"/>
                        </a:lnSpc>
                        <a:buNone/>
                      </a:pPr>
                      <a:r>
                        <a:rPr lang="en-US" sz="1200" dirty="0">
                          <a:solidFill>
                            <a:srgbClr val="0E1A2B"/>
                          </a:solidFill>
                          <a:latin typeface="IBM Plex Sans" pitchFamily="34" charset="0"/>
                          <a:ea typeface="IBM Plex Sans" pitchFamily="34" charset="-122"/>
                          <a:cs typeface="IBM Plex Sans" pitchFamily="34" charset="-120"/>
                        </a:rPr>
                        <a:t>Open source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c>
                  <a:txBody>
                    <a:bodyPr/>
                    <a:lstStyle/>
                    <a:p>
                      <a:pPr indent="0" marL="0">
                        <a:lnSpc>
                          <a:spcPts val="1680"/>
                        </a:lnSpc>
                        <a:buNone/>
                      </a:pPr>
                      <a:r>
                        <a:rPr lang="en-US" sz="1200" dirty="0">
                          <a:solidFill>
                            <a:srgbClr val="0E1A2B"/>
                          </a:solidFill>
                          <a:latin typeface="IBM Plex Sans" pitchFamily="34" charset="0"/>
                          <a:ea typeface="IBM Plex Sans" pitchFamily="34" charset="-122"/>
                          <a:cs typeface="IBM Plex Sans" pitchFamily="34" charset="-120"/>
                        </a:rPr>
                        <a:t>No limit that matters.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r>
              <a:tr h="331258">
                <a:tc>
                  <a:txBody>
                    <a:bodyPr/>
                    <a:lstStyle/>
                    <a:p>
                      <a:pPr indent="0" marL="0">
                        <a:lnSpc>
                          <a:spcPts val="1680"/>
                        </a:lnSpc>
                        <a:buNone/>
                      </a:pPr>
                      <a:r>
                        <a:rPr lang="en-US" sz="1200" dirty="0">
                          <a:solidFill>
                            <a:srgbClr val="0E1A2B"/>
                          </a:solidFill>
                          <a:latin typeface="IBM Plex Sans" pitchFamily="34" charset="0"/>
                          <a:ea typeface="IBM Plex Sans" pitchFamily="34" charset="-122"/>
                          <a:cs typeface="IBM Plex Sans" pitchFamily="34" charset="-120"/>
                        </a:rPr>
                        <a:t>SQLite: rules and audit log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c>
                  <a:txBody>
                    <a:bodyPr/>
                    <a:lstStyle/>
                    <a:p>
                      <a:pPr indent="0" marL="0">
                        <a:lnSpc>
                          <a:spcPts val="1680"/>
                        </a:lnSpc>
                        <a:buNone/>
                      </a:pPr>
                      <a:r>
                        <a:rPr lang="en-US" sz="1200" dirty="0">
                          <a:solidFill>
                            <a:srgbClr val="0E1A2B"/>
                          </a:solidFill>
                          <a:latin typeface="IBM Plex Sans" pitchFamily="34" charset="0"/>
                          <a:ea typeface="IBM Plex Sans" pitchFamily="34" charset="-122"/>
                          <a:cs typeface="IBM Plex Sans" pitchFamily="34" charset="-120"/>
                        </a:rPr>
                        <a:t>Local file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c>
                  <a:txBody>
                    <a:bodyPr/>
                    <a:lstStyle/>
                    <a:p>
                      <a:pPr indent="0" marL="0">
                        <a:lnSpc>
                          <a:spcPts val="1680"/>
                        </a:lnSpc>
                        <a:buNone/>
                      </a:pPr>
                      <a:r>
                        <a:rPr lang="en-US" sz="1200" dirty="0">
                          <a:solidFill>
                            <a:srgbClr val="0E1A2B"/>
                          </a:solidFill>
                          <a:latin typeface="IBM Plex Sans" pitchFamily="34" charset="0"/>
                          <a:ea typeface="IBM Plex Sans" pitchFamily="34" charset="-122"/>
                          <a:cs typeface="IBM Plex Sans" pitchFamily="34" charset="-120"/>
                        </a:rPr>
                        <a:t>Single writer, fine for a POC.</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r>
              <a:tr h="331258">
                <a:tc>
                  <a:txBody>
                    <a:bodyPr/>
                    <a:lstStyle/>
                    <a:p>
                      <a:pPr indent="0" marL="0">
                        <a:lnSpc>
                          <a:spcPts val="1680"/>
                        </a:lnSpc>
                        <a:buNone/>
                      </a:pPr>
                      <a:r>
                        <a:rPr lang="en-US" sz="1200" dirty="0">
                          <a:solidFill>
                            <a:srgbClr val="0E1A2B"/>
                          </a:solidFill>
                          <a:latin typeface="IBM Plex Sans" pitchFamily="34" charset="0"/>
                          <a:ea typeface="IBM Plex Sans" pitchFamily="34" charset="-122"/>
                          <a:cs typeface="IBM Plex Sans" pitchFamily="34" charset="-120"/>
                        </a:rPr>
                        <a:t>Hisaab Pro demo site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c>
                  <a:txBody>
                    <a:bodyPr/>
                    <a:lstStyle/>
                    <a:p>
                      <a:pPr indent="0" marL="0">
                        <a:lnSpc>
                          <a:spcPts val="1680"/>
                        </a:lnSpc>
                        <a:buNone/>
                      </a:pPr>
                      <a:r>
                        <a:rPr lang="en-US" sz="1200" dirty="0">
                          <a:solidFill>
                            <a:srgbClr val="0E1A2B"/>
                          </a:solidFill>
                          <a:latin typeface="IBM Plex Sans" pitchFamily="34" charset="0"/>
                          <a:ea typeface="IBM Plex Sans" pitchFamily="34" charset="-122"/>
                          <a:cs typeface="IBM Plex Sans" pitchFamily="34" charset="-120"/>
                        </a:rPr>
                        <a:t>GitHub Pages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c>
                  <a:txBody>
                    <a:bodyPr/>
                    <a:lstStyle/>
                    <a:p>
                      <a:pPr indent="0" marL="0">
                        <a:lnSpc>
                          <a:spcPts val="1680"/>
                        </a:lnSpc>
                        <a:buNone/>
                      </a:pPr>
                      <a:r>
                        <a:rPr lang="en-US" sz="1200" dirty="0">
                          <a:solidFill>
                            <a:srgbClr val="0E1A2B"/>
                          </a:solidFill>
                          <a:latin typeface="IBM Plex Sans" pitchFamily="34" charset="0"/>
                          <a:ea typeface="IBM Plex Sans" pitchFamily="34" charset="-122"/>
                          <a:cs typeface="IBM Plex Sans" pitchFamily="34" charset="-120"/>
                        </a:rPr>
                        <a:t>Static pages only.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r>
              <a:tr h="331258">
                <a:tc>
                  <a:txBody>
                    <a:bodyPr/>
                    <a:lstStyle/>
                    <a:p>
                      <a:pPr indent="0" marL="0">
                        <a:lnSpc>
                          <a:spcPts val="1680"/>
                        </a:lnSpc>
                        <a:buNone/>
                      </a:pPr>
                      <a:r>
                        <a:rPr lang="en-US" sz="1200" dirty="0">
                          <a:solidFill>
                            <a:srgbClr val="0E1A2B"/>
                          </a:solidFill>
                          <a:latin typeface="IBM Plex Sans" pitchFamily="34" charset="0"/>
                          <a:ea typeface="IBM Plex Sans" pitchFamily="34" charset="-122"/>
                          <a:cs typeface="IBM Plex Sans" pitchFamily="34" charset="-120"/>
                        </a:rPr>
                        <a:t>Hosting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c>
                  <a:txBody>
                    <a:bodyPr/>
                    <a:lstStyle/>
                    <a:p>
                      <a:pPr indent="0" marL="0">
                        <a:lnSpc>
                          <a:spcPts val="1680"/>
                        </a:lnSpc>
                        <a:buNone/>
                      </a:pPr>
                      <a:r>
                        <a:rPr lang="en-US" sz="1200" dirty="0">
                          <a:solidFill>
                            <a:srgbClr val="0E1A2B"/>
                          </a:solidFill>
                          <a:latin typeface="IBM Plex Sans" pitchFamily="34" charset="0"/>
                          <a:ea typeface="IBM Plex Sans" pitchFamily="34" charset="-122"/>
                          <a:cs typeface="IBM Plex Sans" pitchFamily="34" charset="-120"/>
                        </a:rPr>
                        <a:t>Local laptop</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c>
                  <a:txBody>
                    <a:bodyPr/>
                    <a:lstStyle/>
                    <a:p>
                      <a:pPr indent="0" marL="0">
                        <a:lnSpc>
                          <a:spcPts val="1680"/>
                        </a:lnSpc>
                        <a:buNone/>
                      </a:pPr>
                      <a:r>
                        <a:rPr lang="en-US" sz="1200" dirty="0">
                          <a:solidFill>
                            <a:srgbClr val="0E1A2B"/>
                          </a:solidFill>
                          <a:latin typeface="IBM Plex Sans" pitchFamily="34" charset="0"/>
                          <a:ea typeface="IBM Plex Sans" pitchFamily="34" charset="-122"/>
                          <a:cs typeface="IBM Plex Sans" pitchFamily="34" charset="-120"/>
                        </a:rPr>
                        <a:t>Plain HTTP on the local network.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r>
            </a:tbl>
          </a:graphicData>
        </a:graphic>
      </p:graphicFrame>
      <p:sp>
        <p:nvSpPr>
          <p:cNvPr id="7" name="Text 4"/>
          <p:cNvSpPr/>
          <p:nvPr/>
        </p:nvSpPr>
        <p:spPr>
          <a:xfrm>
            <a:off x="812800" y="6238261"/>
            <a:ext cx="10883392"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676"/>
                </a:solidFill>
                <a:latin typeface="JetBrains Mono" pitchFamily="49" charset="0"/>
                <a:ea typeface="JetBrains Mono" pitchFamily="49" charset="-122"/>
                <a:cs typeface="JetBrains Mono" pitchFamily="49" charset="-120"/>
              </a:rPr>
              <a:t>POC-11 · Compliance Firewall · 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9E4D8"/>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E1A2B"/>
                </a:solidFill>
                <a:latin typeface="IBM Plex Sans" pitchFamily="34" charset="0"/>
                <a:ea typeface="IBM Plex Sans" pitchFamily="34" charset="-122"/>
                <a:cs typeface="IBM Plex Sans" pitchFamily="34" charset="-120"/>
              </a:rPr>
              <a:t>Limitations</a:t>
            </a:r>
            <a:endParaRPr lang="en-US" sz="3200" dirty="0"/>
          </a:p>
        </p:txBody>
      </p:sp>
      <p:sp>
        <p:nvSpPr>
          <p:cNvPr id="3" name="Shape 1"/>
          <p:cNvSpPr/>
          <p:nvPr/>
        </p:nvSpPr>
        <p:spPr>
          <a:xfrm>
            <a:off x="815975" y="1567786"/>
            <a:ext cx="3414183" cy="1127566"/>
          </a:xfrm>
          <a:prstGeom prst="roundRect">
            <a:avLst>
              <a:gd name="adj" fmla="val 6476"/>
            </a:avLst>
          </a:prstGeom>
          <a:solidFill>
            <a:srgbClr val="FCFBF7"/>
          </a:solidFill>
          <a:ln w="6350">
            <a:solidFill>
              <a:srgbClr val="D9D2C1"/>
            </a:solidFill>
            <a:prstDash val="solid"/>
          </a:ln>
        </p:spPr>
      </p:sp>
      <p:sp>
        <p:nvSpPr>
          <p:cNvPr id="4" name="Text 2"/>
          <p:cNvSpPr/>
          <p:nvPr/>
        </p:nvSpPr>
        <p:spPr>
          <a:xfrm>
            <a:off x="1021644" y="1773461"/>
            <a:ext cx="3092930" cy="238742"/>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E1A2B"/>
                </a:solidFill>
                <a:latin typeface="IBM Plex Sans" pitchFamily="34" charset="0"/>
                <a:ea typeface="IBM Plex Sans" pitchFamily="34" charset="-122"/>
                <a:cs typeface="IBM Plex Sans" pitchFamily="34" charset="-120"/>
              </a:rPr>
              <a:t>AI judgement</a:t>
            </a:r>
            <a:endParaRPr lang="en-US" sz="1400" dirty="0"/>
          </a:p>
        </p:txBody>
      </p:sp>
      <p:sp>
        <p:nvSpPr>
          <p:cNvPr id="5" name="Text 3"/>
          <p:cNvSpPr/>
          <p:nvPr/>
        </p:nvSpPr>
        <p:spPr>
          <a:xfrm>
            <a:off x="1021644" y="2063000"/>
            <a:ext cx="3092930" cy="45208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4858"/>
                </a:solidFill>
                <a:latin typeface="IBM Plex Sans" pitchFamily="34" charset="0"/>
                <a:ea typeface="IBM Plex Sans" pitchFamily="34" charset="-122"/>
                <a:cs typeface="IBM Plex Sans" pitchFamily="34" charset="-120"/>
              </a:rPr>
              <a:t>A real policy sentence can still be quoted for a promise it does not fully support.</a:t>
            </a:r>
            <a:endParaRPr lang="en-US" sz="1200" dirty="0"/>
          </a:p>
        </p:txBody>
      </p:sp>
      <p:sp>
        <p:nvSpPr>
          <p:cNvPr id="6" name="Shape 4"/>
          <p:cNvSpPr/>
          <p:nvPr/>
        </p:nvSpPr>
        <p:spPr>
          <a:xfrm>
            <a:off x="4388908" y="1567786"/>
            <a:ext cx="3414183" cy="1127566"/>
          </a:xfrm>
          <a:prstGeom prst="roundRect">
            <a:avLst>
              <a:gd name="adj" fmla="val 6476"/>
            </a:avLst>
          </a:prstGeom>
          <a:solidFill>
            <a:srgbClr val="FCFBF7"/>
          </a:solidFill>
          <a:ln w="6350">
            <a:solidFill>
              <a:srgbClr val="D9D2C1"/>
            </a:solidFill>
            <a:prstDash val="solid"/>
          </a:ln>
        </p:spPr>
      </p:sp>
      <p:sp>
        <p:nvSpPr>
          <p:cNvPr id="7" name="Text 5"/>
          <p:cNvSpPr/>
          <p:nvPr/>
        </p:nvSpPr>
        <p:spPr>
          <a:xfrm>
            <a:off x="4594578" y="1773461"/>
            <a:ext cx="3092930" cy="238742"/>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E1A2B"/>
                </a:solidFill>
                <a:latin typeface="IBM Plex Sans" pitchFamily="34" charset="0"/>
                <a:ea typeface="IBM Plex Sans" pitchFamily="34" charset="-122"/>
                <a:cs typeface="IBM Plex Sans" pitchFamily="34" charset="-120"/>
              </a:rPr>
              <a:t>Extraction blind spots</a:t>
            </a:r>
            <a:endParaRPr lang="en-US" sz="1400" dirty="0"/>
          </a:p>
        </p:txBody>
      </p:sp>
      <p:sp>
        <p:nvSpPr>
          <p:cNvPr id="8" name="Text 6"/>
          <p:cNvSpPr/>
          <p:nvPr/>
        </p:nvSpPr>
        <p:spPr>
          <a:xfrm>
            <a:off x="4594578" y="2063000"/>
            <a:ext cx="3092930" cy="45208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4858"/>
                </a:solidFill>
                <a:latin typeface="IBM Plex Sans" pitchFamily="34" charset="0"/>
                <a:ea typeface="IBM Plex Sans" pitchFamily="34" charset="-122"/>
                <a:cs typeface="IBM Plex Sans" pitchFamily="34" charset="-120"/>
              </a:rPr>
              <a:t>Hours and weekday deadlines are not extracted. Months count as 30 days.</a:t>
            </a:r>
            <a:endParaRPr lang="en-US" sz="1200" dirty="0"/>
          </a:p>
        </p:txBody>
      </p:sp>
      <p:sp>
        <p:nvSpPr>
          <p:cNvPr id="9" name="Shape 7"/>
          <p:cNvSpPr/>
          <p:nvPr/>
        </p:nvSpPr>
        <p:spPr>
          <a:xfrm>
            <a:off x="7961842" y="1567786"/>
            <a:ext cx="3414183" cy="1127566"/>
          </a:xfrm>
          <a:prstGeom prst="roundRect">
            <a:avLst>
              <a:gd name="adj" fmla="val 6476"/>
            </a:avLst>
          </a:prstGeom>
          <a:solidFill>
            <a:srgbClr val="FCFBF7"/>
          </a:solidFill>
          <a:ln w="6350">
            <a:solidFill>
              <a:srgbClr val="D9D2C1"/>
            </a:solidFill>
            <a:prstDash val="solid"/>
          </a:ln>
        </p:spPr>
      </p:sp>
      <p:sp>
        <p:nvSpPr>
          <p:cNvPr id="10" name="Text 8"/>
          <p:cNvSpPr/>
          <p:nvPr/>
        </p:nvSpPr>
        <p:spPr>
          <a:xfrm>
            <a:off x="8167512" y="1773461"/>
            <a:ext cx="3092930" cy="238742"/>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E1A2B"/>
                </a:solidFill>
                <a:latin typeface="IBM Plex Sans" pitchFamily="34" charset="0"/>
                <a:ea typeface="IBM Plex Sans" pitchFamily="34" charset="-122"/>
                <a:cs typeface="IBM Plex Sans" pitchFamily="34" charset="-120"/>
              </a:rPr>
              <a:t>Leans towards blocking</a:t>
            </a:r>
            <a:endParaRPr lang="en-US" sz="1400" dirty="0"/>
          </a:p>
        </p:txBody>
      </p:sp>
      <p:sp>
        <p:nvSpPr>
          <p:cNvPr id="11" name="Text 9"/>
          <p:cNvSpPr/>
          <p:nvPr/>
        </p:nvSpPr>
        <p:spPr>
          <a:xfrm>
            <a:off x="8167512" y="2063000"/>
            <a:ext cx="3092930" cy="45208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4858"/>
                </a:solidFill>
                <a:latin typeface="IBM Plex Sans" pitchFamily="34" charset="0"/>
                <a:ea typeface="IBM Plex Sans" pitchFamily="34" charset="-122"/>
                <a:cs typeface="IBM Plex Sans" pitchFamily="34" charset="-120"/>
              </a:rPr>
              <a:t>Some unusual but correct answers are blocked, for example “99.9% uptime”.</a:t>
            </a:r>
            <a:endParaRPr lang="en-US" sz="1200" dirty="0"/>
          </a:p>
        </p:txBody>
      </p:sp>
      <p:sp>
        <p:nvSpPr>
          <p:cNvPr id="12" name="Shape 10"/>
          <p:cNvSpPr/>
          <p:nvPr/>
        </p:nvSpPr>
        <p:spPr>
          <a:xfrm>
            <a:off x="815975" y="2854108"/>
            <a:ext cx="3414183" cy="1127566"/>
          </a:xfrm>
          <a:prstGeom prst="roundRect">
            <a:avLst>
              <a:gd name="adj" fmla="val 6476"/>
            </a:avLst>
          </a:prstGeom>
          <a:solidFill>
            <a:srgbClr val="FCFBF7"/>
          </a:solidFill>
          <a:ln w="6350">
            <a:solidFill>
              <a:srgbClr val="D9D2C1"/>
            </a:solidFill>
            <a:prstDash val="solid"/>
          </a:ln>
        </p:spPr>
      </p:sp>
      <p:sp>
        <p:nvSpPr>
          <p:cNvPr id="13" name="Text 11"/>
          <p:cNvSpPr/>
          <p:nvPr/>
        </p:nvSpPr>
        <p:spPr>
          <a:xfrm>
            <a:off x="1021644" y="3059776"/>
            <a:ext cx="3092930" cy="238742"/>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E1A2B"/>
                </a:solidFill>
                <a:latin typeface="IBM Plex Sans" pitchFamily="34" charset="0"/>
                <a:ea typeface="IBM Plex Sans" pitchFamily="34" charset="-122"/>
                <a:cs typeface="IBM Plex Sans" pitchFamily="34" charset="-120"/>
              </a:rPr>
              <a:t>Keyword promises</a:t>
            </a:r>
            <a:endParaRPr lang="en-US" sz="1400" dirty="0"/>
          </a:p>
        </p:txBody>
      </p:sp>
      <p:sp>
        <p:nvSpPr>
          <p:cNvPr id="14" name="Text 12"/>
          <p:cNvSpPr/>
          <p:nvPr/>
        </p:nvSpPr>
        <p:spPr>
          <a:xfrm>
            <a:off x="1021644" y="3349315"/>
            <a:ext cx="3092930" cy="45208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4858"/>
                </a:solidFill>
                <a:latin typeface="IBM Plex Sans" pitchFamily="34" charset="0"/>
                <a:ea typeface="IBM Plex Sans" pitchFamily="34" charset="-122"/>
                <a:cs typeface="IBM Plex Sans" pitchFamily="34" charset="-120"/>
              </a:rPr>
              <a:t>A promise with no keyword, number or link is not checked: “we never share your data”.</a:t>
            </a:r>
            <a:endParaRPr lang="en-US" sz="1200" dirty="0"/>
          </a:p>
        </p:txBody>
      </p:sp>
      <p:sp>
        <p:nvSpPr>
          <p:cNvPr id="15" name="Shape 13"/>
          <p:cNvSpPr/>
          <p:nvPr/>
        </p:nvSpPr>
        <p:spPr>
          <a:xfrm>
            <a:off x="4388908" y="2854108"/>
            <a:ext cx="3414183" cy="1127566"/>
          </a:xfrm>
          <a:prstGeom prst="roundRect">
            <a:avLst>
              <a:gd name="adj" fmla="val 6476"/>
            </a:avLst>
          </a:prstGeom>
          <a:solidFill>
            <a:srgbClr val="FCFBF7"/>
          </a:solidFill>
          <a:ln w="6350">
            <a:solidFill>
              <a:srgbClr val="D9D2C1"/>
            </a:solidFill>
            <a:prstDash val="solid"/>
          </a:ln>
        </p:spPr>
      </p:sp>
      <p:sp>
        <p:nvSpPr>
          <p:cNvPr id="16" name="Text 14"/>
          <p:cNvSpPr/>
          <p:nvPr/>
        </p:nvSpPr>
        <p:spPr>
          <a:xfrm>
            <a:off x="4594578" y="3059776"/>
            <a:ext cx="3092930" cy="238742"/>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E1A2B"/>
                </a:solidFill>
                <a:latin typeface="IBM Plex Sans" pitchFamily="34" charset="0"/>
                <a:ea typeface="IBM Plex Sans" pitchFamily="34" charset="-122"/>
                <a:cs typeface="IBM Plex Sans" pitchFamily="34" charset="-120"/>
              </a:rPr>
              <a:t>Model dependent</a:t>
            </a:r>
            <a:endParaRPr lang="en-US" sz="1400" dirty="0"/>
          </a:p>
        </p:txBody>
      </p:sp>
      <p:sp>
        <p:nvSpPr>
          <p:cNvPr id="17" name="Text 15"/>
          <p:cNvSpPr/>
          <p:nvPr/>
        </p:nvSpPr>
        <p:spPr>
          <a:xfrm>
            <a:off x="4594578" y="3349315"/>
            <a:ext cx="3092930" cy="45208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4858"/>
                </a:solidFill>
                <a:latin typeface="IBM Plex Sans" pitchFamily="34" charset="0"/>
                <a:ea typeface="IBM Plex Sans" pitchFamily="34" charset="-122"/>
                <a:cs typeface="IBM Plex Sans" pitchFamily="34" charset="-120"/>
              </a:rPr>
              <a:t>Results depend on the Groq model. Re-run the suite after changing it.</a:t>
            </a:r>
            <a:endParaRPr lang="en-US" sz="1200" dirty="0"/>
          </a:p>
        </p:txBody>
      </p:sp>
      <p:sp>
        <p:nvSpPr>
          <p:cNvPr id="18" name="Shape 16"/>
          <p:cNvSpPr/>
          <p:nvPr/>
        </p:nvSpPr>
        <p:spPr>
          <a:xfrm>
            <a:off x="7961842" y="2854108"/>
            <a:ext cx="3414183" cy="1127566"/>
          </a:xfrm>
          <a:prstGeom prst="roundRect">
            <a:avLst>
              <a:gd name="adj" fmla="val 6476"/>
            </a:avLst>
          </a:prstGeom>
          <a:solidFill>
            <a:srgbClr val="FCFBF7"/>
          </a:solidFill>
          <a:ln w="6350">
            <a:solidFill>
              <a:srgbClr val="D9D2C1"/>
            </a:solidFill>
            <a:prstDash val="solid"/>
          </a:ln>
        </p:spPr>
      </p:sp>
      <p:sp>
        <p:nvSpPr>
          <p:cNvPr id="19" name="Text 17"/>
          <p:cNvSpPr/>
          <p:nvPr/>
        </p:nvSpPr>
        <p:spPr>
          <a:xfrm>
            <a:off x="8167512" y="3059776"/>
            <a:ext cx="3092930" cy="238742"/>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E1A2B"/>
                </a:solidFill>
                <a:latin typeface="IBM Plex Sans" pitchFamily="34" charset="0"/>
                <a:ea typeface="IBM Plex Sans" pitchFamily="34" charset="-122"/>
                <a:cs typeface="IBM Plex Sans" pitchFamily="34" charset="-120"/>
              </a:rPr>
              <a:t>Local demo setup</a:t>
            </a:r>
            <a:endParaRPr lang="en-US" sz="1400" dirty="0"/>
          </a:p>
        </p:txBody>
      </p:sp>
      <p:sp>
        <p:nvSpPr>
          <p:cNvPr id="20" name="Text 18"/>
          <p:cNvSpPr/>
          <p:nvPr/>
        </p:nvSpPr>
        <p:spPr>
          <a:xfrm>
            <a:off x="8167512" y="3349315"/>
            <a:ext cx="3092930" cy="45208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4858"/>
                </a:solidFill>
                <a:latin typeface="IBM Plex Sans" pitchFamily="34" charset="0"/>
                <a:ea typeface="IBM Plex Sans" pitchFamily="34" charset="-122"/>
                <a:cs typeface="IBM Plex Sans" pitchFamily="34" charset="-120"/>
              </a:rPr>
              <a:t>A deployed version needs a real login in front of the admin actions.</a:t>
            </a:r>
            <a:endParaRPr lang="en-US" sz="1200" dirty="0"/>
          </a:p>
        </p:txBody>
      </p:sp>
      <p:sp>
        <p:nvSpPr>
          <p:cNvPr id="21" name="Text 19"/>
          <p:cNvSpPr/>
          <p:nvPr/>
        </p:nvSpPr>
        <p:spPr>
          <a:xfrm>
            <a:off x="812800" y="6238261"/>
            <a:ext cx="10883392"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676"/>
                </a:solidFill>
                <a:latin typeface="JetBrains Mono" pitchFamily="49" charset="0"/>
                <a:ea typeface="JetBrains Mono" pitchFamily="49" charset="-122"/>
                <a:cs typeface="JetBrains Mono" pitchFamily="49" charset="-120"/>
              </a:rPr>
              <a:t>POC-11 · Compliance Firewall · 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E1A2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42"/>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4A774"/>
                </a:solidFill>
                <a:latin typeface="JetBrains Mono" pitchFamily="49" charset="0"/>
                <a:ea typeface="JetBrains Mono" pitchFamily="49" charset="-122"/>
                <a:cs typeface="JetBrains Mono" pitchFamily="49" charset="-120"/>
              </a:rPr>
              <a:t>DEFINITION OF DONE</a:t>
            </a:r>
            <a:endParaRPr lang="en-US" sz="1200" dirty="0"/>
          </a:p>
        </p:txBody>
      </p:sp>
      <p:sp>
        <p:nvSpPr>
          <p:cNvPr id="3" name="Text 1"/>
          <p:cNvSpPr/>
          <p:nvPr>
            <p:ph type="title"/>
          </p:nvPr>
        </p:nvSpPr>
        <p:spPr>
          <a:xfrm>
            <a:off x="812800" y="2736850"/>
            <a:ext cx="11379200" cy="8255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4F1EA"/>
                </a:solidFill>
                <a:latin typeface="IBM Plex Sans" pitchFamily="34" charset="0"/>
                <a:ea typeface="IBM Plex Sans" pitchFamily="34" charset="-122"/>
                <a:cs typeface="IBM Plex Sans" pitchFamily="34" charset="-120"/>
              </a:rPr>
              <a:t>Every row, demonstrated live</a:t>
            </a:r>
            <a:endParaRPr lang="en-US" sz="6000" dirty="0"/>
          </a:p>
        </p:txBody>
      </p:sp>
      <p:sp>
        <p:nvSpPr>
          <p:cNvPr id="4" name="Text 2"/>
          <p:cNvSpPr/>
          <p:nvPr/>
        </p:nvSpPr>
        <p:spPr>
          <a:xfrm>
            <a:off x="812800" y="3790950"/>
            <a:ext cx="10883392"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A9B6C8"/>
                </a:solidFill>
                <a:latin typeface="IBM Plex Sans" pitchFamily="34" charset="0"/>
                <a:ea typeface="IBM Plex Sans" pitchFamily="34" charset="-122"/>
                <a:cs typeface="IBM Plex Sans" pitchFamily="34" charset="-120"/>
              </a:rPr>
              <a:t>3 success cases, 4 edge cases and 5 bad or abuse cases, each shown in both views.</a:t>
            </a:r>
            <a:endParaRPr lang="en-US" sz="2000" dirty="0"/>
          </a:p>
        </p:txBody>
      </p:sp>
      <p:sp>
        <p:nvSpPr>
          <p:cNvPr id="5" name="Text 3"/>
          <p:cNvSpPr/>
          <p:nvPr/>
        </p:nvSpPr>
        <p:spPr>
          <a:xfrm>
            <a:off x="812800" y="5831861"/>
            <a:ext cx="10883392"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6C8"/>
                </a:solidFill>
                <a:latin typeface="JetBrains Mono" pitchFamily="49" charset="0"/>
                <a:ea typeface="JetBrains Mono" pitchFamily="49" charset="-122"/>
                <a:cs typeface="JetBrains Mono" pitchFamily="49" charset="-120"/>
              </a:rPr>
              <a:t>Questions</a:t>
            </a:r>
            <a:endParaRPr lang="en-US" sz="1200" dirty="0"/>
          </a:p>
        </p:txBody>
      </p:sp>
    </p:spTree>
  </p:cSld>
  <p:clrMapOvr>
    <a:masterClrMapping/>
  </p:clrMapOvr>
</p:sld>
</file>

<file path=ppt/theme/theme1.xml><?xml version="1.0" encoding="utf-8"?>
<a:theme xmlns:a="http://schemas.openxmlformats.org/drawingml/2006/main" name="Compliance Firewall POC-11 Demo">
  <a:themeElements>
    <a:clrScheme name="Compliance Firewall POC-11 Demo">
      <a:dk1>
        <a:srgbClr val="0E1A2B"/>
      </a:dk1>
      <a:lt1>
        <a:srgbClr val="F4F1EA"/>
      </a:lt1>
      <a:dk2>
        <a:srgbClr val="48505B"/>
      </a:dk2>
      <a:lt2>
        <a:srgbClr val="DDDCD7"/>
      </a:lt2>
      <a:accent1>
        <a:srgbClr val="C2410C"/>
      </a:accent1>
      <a:accent2>
        <a:srgbClr val="F4A774"/>
      </a:accent2>
      <a:accent3>
        <a:srgbClr val="1D4ED8"/>
      </a:accent3>
      <a:accent4>
        <a:srgbClr val="3C4858"/>
      </a:accent4>
      <a:accent5>
        <a:srgbClr val="A9B6C8"/>
      </a:accent5>
      <a:accent6>
        <a:srgbClr val="5B6676"/>
      </a:accent6>
      <a:hlink>
        <a:srgbClr val="0563C1"/>
      </a:hlink>
      <a:folHlink>
        <a:srgbClr val="954F72"/>
      </a:folHlink>
    </a:clrScheme>
    <a:fontScheme name="Compliance Firewall POC-11 Demo">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Compliance Firewall POC-11 Demo</dc:title>
  <dc:subject/>
  <dc:creator/>
  <cp:lastModifiedBy/>
  <cp:revision>1</cp:revision>
  <dcterms:created xsi:type="dcterms:W3CDTF">2026-10-05T09:17:52Z</dcterms:created>
  <dcterms:modified xsi:type="dcterms:W3CDTF">2026-10-05T09:17:52Z</dcterms:modified>
</cp:coreProperties>
</file>